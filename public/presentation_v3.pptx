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Здравствуйте. Меня зовут Александр Ключников. Полтора года назад я посмотрел «Аполлон-13» и задумался: а как вообще рассчитать полёт от Земли до Луны? Я нашёл формулы — уравнения задачи трёх тел. Но формулы — это символы на бумаге. Мне захотелось увидеть, как они выглядят. Запустить и посмотреть.
Я стал искать готовый симулятор — и не нашёл. Есть PhET, Desmos, Universe Sandbox — но ни один не моделирует систему Земля–Луна с точками Лагранжа, тягой и контролем точности. Тогда я решил написать его сам.
[Тон: личный, спокойный. Не «научный доклад», а рассказ. ~15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трёх тел — классическая задача механики. Пуанкаре доказал, что аналитического решения не существует. Вот сравнение с существующими инструментами. Видно: ни один не сочетает КОЗТТ, 3D, тягу и контроль точности. Наш симулятор — единственный.
[Быстро, ~15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Вот сам симулятор. Вы можете открыть его прямо сейчас по QR-коду. 3D визуализация, три интегратора, тяга, точки Лагранжа — всё в браузере.
[Пауза 5 с — дать аудитории отсканировать QR. ~15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— создать обучающий веб-симулятор. Шесть задач: от теории до публикации онлайн.
[Темп чуть быстрее, 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симулятор — готовый инструмент для четырёх лабораторных работ. Гало-орбиты, свободный возврат, хаос, тяга. Работает в браузере, ничего не нужно устанавливать. Сейчас я покажу один из этих экспериментов.
[~15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Хаос у L1: разница в начальной скорости всего 1 м/с — и через две недели траектории расходятся на тысячи километров.
[~15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— итерированный Верле: три итерации за каждый шаг уточняют скорость. Результат — на графике. Красная линия: Эйлер, наклон 1.0, первый порядок. Оранжевая: стандартный Верле — тоже 1.0, деградировал. Зелёная: итерированный Верле — наклон 1.97, практически идеальный второй порядок.
При шаге 30 секунд: ошибка Эйлера — 8 километров. Итерированного Верле — 13 сантиметров. Разница — в 49 тысяч раз.
[ПАУЗА после «13 сантиметров». Это кульминация. ~20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 III: «Предательство Верле»
И вот третье — самое неожиданное — удивление. Когда я провёл серию из семи численных экспериментов и построил log-log график, я увидел, что Velocity Verlet — метод, который должен быть второго порядка — ведёт себя как первый. Наклон на графике — 1.0, а не 2.0.
Я начал разбираться: почему? Помните, я просил запомнить силу Кориолиса — 2ω на вектор скорости? Вот в чём проблема: стандартный Верле предполагает, что ускорение зависит только от положения. А Кориолис зависит от скорости. Верле подставляет приближённую скорость — и теряет порядок точности.
[«Помните?» — замыкание интриги из Акта I. ~30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Весь код — и Python-эксперименты, и JavaScript-симулятор — написан мной с нуля. Вывод уравнений, интеграл Якоби, три интегратора, семь экспериментов, поиск точек Лагранжа, 3D-визуализация.
[~10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шесть задач выполнены. Главный количественный результат: итерированный Верле точнее Эйлера в 58 тысяч раз. Спасибо за внимание. Готов ответить на вопросы.
[Пауза. Спокойно.]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Уравнения движения — гравитация плюс две фантомные силы от вращения. Обратите внимание на член 2ω×v — это сила Кориолиса. Она зависит от скорости. Запомните это — через минуту это станет важным.
[Приём foreshadowing — создаёт интригу. ~15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допущения: круговая орбита Луны, малая масса аппарата, без Солнца. Модель не для реальных миссий, но для понимания динамики — вполне корректна.
[~10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 I: «Эйлер врёт»
Я начал с метода Эйлера — простейший способ решить уравнения численно. И первое, что меня удивило: ошибка быстро накапливается. Аппарат, который должен лететь по замкнутой орбите, улетает в бесконечность.
Тогда я реализовал Velocity Verlet — метод второго порядка. Теоретически: уменьшаешь шаг вдвое — ошибка уменьшается в четыре раза. Гораздо лучше.
[~20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Для контроля точности я использую интеграл Якоби — единственную величину, которая точно сохраняется в КОЗТТ. Его дрейф — мера накопленной ошибки.
[Кратко, 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вблизи Земли или Луны шаг автоматически уменьшается.
[Кратко, 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АКТ II: «Лагранж из Desmos»
Второе удивление случилось с точками Лагранжа — это пять точек, где аппарат может зависнуть неподвижно между Землёй и Луной.
Я начал с того, что построил график ускорения в Desmos и стал приближать. Зумил, зумил, зумил... И увидел: в одном месте ускорение меняет знак. Я подумал: а что если искать эту точку автоматически — делить отрезок пополам и смотреть, где знак меняется? Написал алгоритм — и он нашёл L1 с точностью до 10 в минус восемнадцатой степени.
Потом я узнал, что этот метод называется «бисекция» и ему несколько столетий. Но я пришёл к нему сам — от графика в Desmos.
[КЛЮЧЕВОЙ момент для «личного вклада» (30% оценки). Говорить с лёгкой улыбкой. ~30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Гало-орбита вокруг точки L1 — аппарат замыкает орбиту с точностью 3.6 километра за 293 часа.
[~10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Свободный возврат — облёт Луны и возврат к Земле без единой коррекции, как Аполлон-13.
[~10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Постоянная сила в 5 ньютонов превращает далёкий пролёт в подлёт к Луне на 2 500 километров.
[~10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Симулятор написан на Python + Streamlit. Эксперименты — отдельные Python-скрипты. Сайт — чистый HTML/CSS/JS. Весь код написан мной с нуля.
[~10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ключевых источников: Szebehely — классический учебник по ЗОЗТ, Richardson — гало-орбиты, Hairer — геометрическое интегрирование (Верле), Koon — динамические системы, Farquhar — первое описание гало-орбит, NASA — данные Apollo.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Проект начат в сентябре 2025. За 7 месяцев: от теории — к 2D-прототипу на Python, потом — 3D на Three.js, потом — численные эксперименты и публикация на rocketlauncher.space.
[~10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будущем можно учесть эксцентриситет Луны, добавить Солнце, реализовать удержание орбиты. А на базе симулятора — создать лабораторные работы.
[~10 с]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Численное моделирование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траекторий в круговой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ограниченной задаче трёх тел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Земля–Луна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0" y="3657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Ключников Александр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Олимпиада «Старт в науку» МФТИ,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Актуальность и аналоги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КОЗТТ — базовая модель динамики Земля–Луна. Аналитического решения не существует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25880"/>
          <a:ext cx="78638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97280"/>
                <a:gridCol w="914400"/>
                <a:gridCol w="914400"/>
                <a:gridCol w="109728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Инструмент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КОЗТТ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Тяга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Якоби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Веб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GMAT (NASA)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STK (Ansys/AGI)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Universe Sandbox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PhET Simulations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Desmos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«Орбита. Челлендж»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CCCCC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rocketlauncher.space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160520"/>
            <a:ext cx="7315200" cy="4114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4169664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искал готовый симулятор — и не нашёл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rocketlauncher.space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5120640" cy="2560320"/>
          </a:xfrm>
          <a:prstGeom prst="rect">
            <a:avLst/>
          </a:prstGeom>
          <a:solidFill>
            <a:srgbClr val="2A2A2A"/>
          </a:solidFill>
          <a:ln/>
        </p:spPr>
      </p:sp>
      <p:pic>
        <p:nvPicPr>
          <p:cNvPr id="5" name="Image 0" descr="/sessions/fervent-ecstatic-fermi/mnt/spacerocketlauncher/screenshots/halo_orb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170432"/>
            <a:ext cx="5065776" cy="2505456"/>
          </a:xfrm>
          <a:prstGeom prst="rect">
            <a:avLst/>
          </a:prstGeom>
        </p:spPr>
      </p:pic>
      <p:pic>
        <p:nvPicPr>
          <p:cNvPr id="6" name="Image 1" descr="/sessions/fervent-ecstatic-fermi/mnt/spacerocketlauncher/qr_simula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43000"/>
            <a:ext cx="2560320" cy="2560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3D визуализация системы Земля–Луна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754880" y="39319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Три интегратора с контролем Якоби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008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Двигатель с настройкой окна тяги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75488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Точки Лагранжа L1–L5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и задачи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7863840" cy="59436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161288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обучающего веб-симулятора траекторий в системе Земля–Луна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Изучить теоретические основы КОЗТТ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Вывести уравнения движения во вращающейся системе координат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расчёт траектории методом Эйлера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54880" y="205740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57800" y="20116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Реализовать метод Верле, сравнить точность с Эйлером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78892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2788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57800" y="27432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Численно найти точки Лагранжа L1–L5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365760" cy="365760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57800" y="3474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интерактивный 3D веб-симулятор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Готовый инструмент для лабораторных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Симулятор готов к использованию в учебном процессе — без установки, в браузере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Гало-орбиты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Параметрическое исследование: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период, замыкание, дрейф Якоби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5176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283464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3464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возврат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Чувствительность к начальным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условиям, облёт Луны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84632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Хаос и Ляпунов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4632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предсказуемости,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расхождение траекторий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1463040"/>
            <a:ext cx="1828800" cy="25603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15544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58000" y="19659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 тяги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0" y="24231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Подбор окна включения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двигателя для манёвра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06240"/>
            <a:ext cx="7863840" cy="3200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2062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Браузерный доступ  ·  Не требует установки  ·  7 готовых экспериментов  ·  Открытый код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Хаос у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/sessions/fervent-ecstatic-fermi/mnt/spacerocketlauncher/docs/presentation_scenarios/03_cha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Δv₀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м/с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Показатель Ляпунова λ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 сут⁻¹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 предсказуемости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суток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Направлений / время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 сут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Log-log сходимость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/sessions/fervent-ecstatic-fermi/mnt/spacerocketlauncher/experiments/02_integrator_comparison/log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30352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43600" y="137160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6080760" y="13990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Эйлер</a:t>
            </a:r>
            <a:endParaRPr lang="en-US" sz="1300" dirty="0"/>
          </a:p>
        </p:txBody>
      </p:sp>
      <p:pic>
        <p:nvPicPr>
          <p:cNvPr id="7" name="Image 1" descr="/sessions/fervent-ecstatic-fermi/mnt/spacerocketlauncher/latex/slope_eul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1664208"/>
            <a:ext cx="1472184" cy="20116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943600" y="201168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5"/>
          <p:cNvSpPr/>
          <p:nvPr/>
        </p:nvSpPr>
        <p:spPr>
          <a:xfrm>
            <a:off x="6080760" y="2039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стандарт.</a:t>
            </a:r>
            <a:endParaRPr lang="en-US" sz="1300" dirty="0"/>
          </a:p>
        </p:txBody>
      </p:sp>
      <p:pic>
        <p:nvPicPr>
          <p:cNvPr id="10" name="Image 2" descr="/sessions/fervent-ecstatic-fermi/mnt/spacerocketlauncher/latex/slope_verlet_st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304288"/>
            <a:ext cx="1472184" cy="20116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943600" y="2651760"/>
            <a:ext cx="27432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7"/>
          <p:cNvSpPr/>
          <p:nvPr/>
        </p:nvSpPr>
        <p:spPr>
          <a:xfrm>
            <a:off x="6080760" y="267919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итерир.</a:t>
            </a:r>
            <a:endParaRPr lang="en-US" sz="1300" dirty="0"/>
          </a:p>
        </p:txBody>
      </p:sp>
      <p:pic>
        <p:nvPicPr>
          <p:cNvPr id="13" name="Image 3" descr="/sessions/fervent-ecstatic-fermi/mnt/spacerocketlauncher/latex/slope_verlet_i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944368"/>
            <a:ext cx="1472184" cy="20116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943600" y="3246120"/>
            <a:ext cx="2743200" cy="123444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5" name="Text 9"/>
          <p:cNvSpPr/>
          <p:nvPr/>
        </p:nvSpPr>
        <p:spPr>
          <a:xfrm>
            <a:off x="608076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 = 30 с  |  R² = 0.999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080760" y="35204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Эйлер:    8 400 м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Верле ст.: 1 900 м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Верле ит.:   0.13 м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6080760" y="4096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49 000× точнее по позиции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интеграторов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интеграла Якоби, гало-орбита L1, dt = 30 с, T = 720 ч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291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Интегратор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Режим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Макс. дрейф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Эйлер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 × 10⁻⁶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Верле полушаг.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× 10⁻⁶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Верле итерир.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фикс.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 × 10⁻¹¹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108960"/>
            <a:ext cx="3840480" cy="1188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1272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58 000×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64008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дрейфу Якоби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663440" y="3108960"/>
            <a:ext cx="3840480" cy="11887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0" name="Text 7"/>
          <p:cNvSpPr/>
          <p:nvPr/>
        </p:nvSpPr>
        <p:spPr>
          <a:xfrm>
            <a:off x="4663440" y="3127248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49 000×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4663440" y="3840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ошибке позиции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Личный вклад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Физика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651760" y="11430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уравнений движения КОЗТТ во вращающейся системе координат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Валидация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51760" y="173736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и реализация интеграла Якоби как инструмента проверки точности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Числ. методы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233172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интегратора; обнаружение деградации Верле и реализация итерированного варианта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9260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Серия из 7 вычислительных экспериментов для количественной верификации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5204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51760" y="352044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Нахождение точек Лагранжа L1–L5: бисекция + метод Ньютона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114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651760" y="41148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веб-симулятор + скрипты поиска начальных условий — с нуля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530352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61288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14300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Изучены теоретические основы КОЗТТ, выведены уравнения движения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530352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09928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34440" y="16916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Реализованы 3 интегратора; итерированный Верле точнее Эйлера в 58 000×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240280"/>
            <a:ext cx="530352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58568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224028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Лагранжа L1–L5 найдены численно (ост. уск. &lt; 10⁻¹⁸)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530352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07208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34440" y="278892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верифицирована серией из 7 численных экспериментов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530352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55848"/>
            <a:ext cx="365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34440" y="333756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 обучающий 3D веб-симулятор, опубликован онлайн</a:t>
            </a:r>
            <a:endParaRPr lang="en-US" sz="1200" dirty="0"/>
          </a:p>
        </p:txBody>
      </p:sp>
      <p:pic>
        <p:nvPicPr>
          <p:cNvPr id="19" name="Image 0" descr="/sessions/fervent-ecstatic-fermi/mnt/spacerocketlauncher/qr_simula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1143000"/>
            <a:ext cx="2560320" cy="25603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217920" y="3794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МФТИ  ·  Старт в науку  ·  2026  ·  Ключников Александр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560320"/>
            <a:ext cx="786384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Дополнительные материалы для ответов на вопросы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Математическая модель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515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Уравнения движения во вращающейся системе координат: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863840" cy="169164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6" name="Image 0" descr="/sessions/fervent-ecstatic-fermi/mnt/spacerocketlauncher/latex/eq_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463040"/>
            <a:ext cx="3794760" cy="438912"/>
          </a:xfrm>
          <a:prstGeom prst="rect">
            <a:avLst/>
          </a:prstGeom>
        </p:spPr>
      </p:pic>
      <p:pic>
        <p:nvPicPr>
          <p:cNvPr id="7" name="Image 1" descr="/sessions/fervent-ecstatic-fermi/mnt/spacerocketlauncher/latex/eq_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965960"/>
            <a:ext cx="3218688" cy="438912"/>
          </a:xfrm>
          <a:prstGeom prst="rect">
            <a:avLst/>
          </a:prstGeom>
        </p:spPr>
      </p:pic>
      <p:pic>
        <p:nvPicPr>
          <p:cNvPr id="8" name="Image 2" descr="/sessions/fervent-ecstatic-fermi/mnt/spacerocketlauncher/latex/eq_z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68880"/>
            <a:ext cx="1883664" cy="438912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40080" y="3291840"/>
            <a:ext cx="1499616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5"/>
          <p:cNvSpPr/>
          <p:nvPr/>
        </p:nvSpPr>
        <p:spPr>
          <a:xfrm>
            <a:off x="731520" y="332841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731520" y="36393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грав. постоянная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2212848" y="3291840"/>
            <a:ext cx="1499616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8"/>
          <p:cNvSpPr/>
          <p:nvPr/>
        </p:nvSpPr>
        <p:spPr>
          <a:xfrm>
            <a:off x="2304288" y="332841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Mₑ, Mₘ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2304288" y="36393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массы тел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3785616" y="3291840"/>
            <a:ext cx="1499616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1"/>
          <p:cNvSpPr/>
          <p:nvPr/>
        </p:nvSpPr>
        <p:spPr>
          <a:xfrm>
            <a:off x="3877056" y="332841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dₑ, dₘ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877056" y="36393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барицентра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358384" y="3291840"/>
            <a:ext cx="1499616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4"/>
          <p:cNvSpPr/>
          <p:nvPr/>
        </p:nvSpPr>
        <p:spPr>
          <a:xfrm>
            <a:off x="5449824" y="332841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rₑ, rₘ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449824" y="36393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центров масс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931152" y="3291840"/>
            <a:ext cx="1499616" cy="6400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2" name="Text 17"/>
          <p:cNvSpPr/>
          <p:nvPr/>
        </p:nvSpPr>
        <p:spPr>
          <a:xfrm>
            <a:off x="7022592" y="332841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ω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7022592" y="363931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угл. скорость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40080" y="4023360"/>
            <a:ext cx="5029200" cy="45720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5" name="Text 20"/>
          <p:cNvSpPr/>
          <p:nvPr/>
        </p:nvSpPr>
        <p:spPr>
          <a:xfrm>
            <a:off x="777240" y="4050792"/>
            <a:ext cx="4754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2ωẋ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и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−2ωẏ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сила Кориолиса. Зависит от скорости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852160" y="40507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модель тяги: </a:t>
            </a:r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 = const</a:t>
            </a:r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окне </a:t>
            </a:r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[tₒₙ, tₒff]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Область применимости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68680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Круговая орбита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Орбита Луны считается круговой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(реальный эксцентриситет = 0.055)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19272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3547872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47872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Малая масса КА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47872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Масса аппарата пренебрежимо мала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сравнению с Землёй и Луной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98464" y="1143000"/>
            <a:ext cx="2496312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227064" y="1234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27064" y="1691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Солнца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227064" y="2103120"/>
            <a:ext cx="2039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учитывается притяжение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Солнца и других тел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7863840" cy="1371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3611880"/>
            <a:ext cx="384048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корректна для качественного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изучения динамики и учебных целей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611880"/>
            <a:ext cx="384048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6576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реальных миссий используются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полные эфемеридные модели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интегратора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2496312" cy="2468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Эйлера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1664208"/>
            <a:ext cx="2039112" cy="1371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Простой, порядок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𝒪(h)</a:t>
            </a:r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сохраняет энергию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19272" y="1143000"/>
            <a:ext cx="2496312" cy="2468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8"/>
          <p:cNvSpPr/>
          <p:nvPr/>
        </p:nvSpPr>
        <p:spPr>
          <a:xfrm>
            <a:off x="3547872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стандартный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47872" y="1664208"/>
            <a:ext cx="2039112" cy="1371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Симплектический,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𝒪(h²)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теор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Кориолис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2ω×v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= f(x,v)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Деградация до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𝒪(h)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КОЗТТ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47872" y="301752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𝒪(h)</a:t>
            </a:r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 КОЗТТ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998464" y="1143000"/>
            <a:ext cx="2496312" cy="246888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15" name="Text 13"/>
          <p:cNvSpPr/>
          <p:nvPr/>
        </p:nvSpPr>
        <p:spPr>
          <a:xfrm>
            <a:off x="6227064" y="12344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Верле итерированный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27064" y="1664208"/>
            <a:ext cx="2039112" cy="13716"/>
          </a:xfrm>
          <a:prstGeom prst="rect">
            <a:avLst/>
          </a:prstGeom>
          <a:solidFill>
            <a:srgbClr val="555555"/>
          </a:solidFill>
          <a:ln/>
        </p:spPr>
      </p:sp>
      <p:sp>
        <p:nvSpPr>
          <p:cNvPr id="17" name="Text 15"/>
          <p:cNvSpPr/>
          <p:nvPr/>
        </p:nvSpPr>
        <p:spPr>
          <a:xfrm>
            <a:off x="6227064" y="1783080"/>
            <a:ext cx="20391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итерации за шаг уточняют </a:t>
            </a:r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Восстанавливает порядок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CCCCC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𝒪(h²)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27064" y="301752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𝒪(h²)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786384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382219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Кориолисова сила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2ω × v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зависит от скорости → стандартный Верле теряет порядок → итерации восстанавливают 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𝒪(h²)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Интеграл Якоби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сохраняющаяся величина в КОЗТТ</a:t>
            </a:r>
            <a:endParaRPr lang="en-US" sz="1500" dirty="0"/>
          </a:p>
        </p:txBody>
      </p:sp>
      <p:pic>
        <p:nvPicPr>
          <p:cNvPr id="5" name="Image 0" descr="/sessions/fervent-ecstatic-fermi/mnt/spacerocketlauncher/latex/jacobi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2032" y="1554480"/>
            <a:ext cx="4059936" cy="777240"/>
          </a:xfrm>
          <a:prstGeom prst="rect">
            <a:avLst/>
          </a:prstGeom>
        </p:spPr>
      </p:pic>
      <p:pic>
        <p:nvPicPr>
          <p:cNvPr id="6" name="Image 1" descr="/sessions/fervent-ecstatic-fermi/mnt/spacerocketlauncher/latex/jacobi_drif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4368" y="2377440"/>
            <a:ext cx="3255264" cy="32004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40080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Shape 4"/>
          <p:cNvSpPr/>
          <p:nvPr/>
        </p:nvSpPr>
        <p:spPr>
          <a:xfrm>
            <a:off x="640080" y="2880360"/>
            <a:ext cx="1874520" cy="128016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0.001%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777240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Отлично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2633472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Shape 8"/>
          <p:cNvSpPr/>
          <p:nvPr/>
        </p:nvSpPr>
        <p:spPr>
          <a:xfrm>
            <a:off x="2633472" y="2880360"/>
            <a:ext cx="1874520" cy="128016"/>
          </a:xfrm>
          <a:prstGeom prst="rect">
            <a:avLst/>
          </a:prstGeom>
          <a:solidFill>
            <a:srgbClr val="EAB308"/>
          </a:solidFill>
          <a:ln/>
        </p:spPr>
      </p:sp>
      <p:sp>
        <p:nvSpPr>
          <p:cNvPr id="13" name="Text 9"/>
          <p:cNvSpPr/>
          <p:nvPr/>
        </p:nvSpPr>
        <p:spPr>
          <a:xfrm>
            <a:off x="2770632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0.01%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770632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626864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Shape 12"/>
          <p:cNvSpPr/>
          <p:nvPr/>
        </p:nvSpPr>
        <p:spPr>
          <a:xfrm>
            <a:off x="4626864" y="2880360"/>
            <a:ext cx="1874520" cy="12801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7" name="Text 13"/>
          <p:cNvSpPr/>
          <p:nvPr/>
        </p:nvSpPr>
        <p:spPr>
          <a:xfrm>
            <a:off x="4764024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0.1%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4764024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Допустимо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6620256" y="2880360"/>
            <a:ext cx="1874520" cy="10972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6"/>
          <p:cNvSpPr/>
          <p:nvPr/>
        </p:nvSpPr>
        <p:spPr>
          <a:xfrm>
            <a:off x="6620256" y="2880360"/>
            <a:ext cx="1874520" cy="1280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7"/>
          <p:cNvSpPr/>
          <p:nvPr/>
        </p:nvSpPr>
        <p:spPr>
          <a:xfrm>
            <a:off x="6757416" y="31272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0.1%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757416" y="354787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Плохо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Адаптивный шаг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Вблизи тел </a:t>
            </a:r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1/r</a:t>
            </a:r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растёт → нужен мелкий шаг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7863840" cy="91440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6" name="Image 0" descr="/sessions/fervent-ecstatic-fermi/mnt/spacerocketlauncher/latex/adaptive_d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0128" y="1691640"/>
            <a:ext cx="2532888" cy="731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Далеко от тел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 = dt</a:t>
            </a:r>
            <a:pPr indent="0" marL="0">
              <a:lnSpc>
                <a:spcPct val="135000"/>
              </a:lnSpc>
              <a:buNone/>
            </a:pPr>
            <a:r>
              <a:rPr lang="en-US" sz="900" baseline="-40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max</a:t>
            </a:r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 малы, шаг максимален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319272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3502152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Переходная зона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02152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уменьшается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пропорционально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i="1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998464" y="2697480"/>
            <a:ext cx="2496312" cy="1325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6181344" y="2788920"/>
            <a:ext cx="2130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Вблизи тела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181344" y="3200400"/>
            <a:ext cx="2130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dt ≈ dt</a:t>
            </a:r>
            <a:pPr indent="0" marL="0">
              <a:lnSpc>
                <a:spcPct val="135000"/>
              </a:lnSpc>
              <a:buNone/>
            </a:pPr>
            <a:r>
              <a:rPr lang="en-US" sz="900" baseline="-40000" dirty="0">
                <a:solidFill>
                  <a:srgbClr val="6666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min</a:t>
            </a:r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Силы велики, шаг минимален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154680" y="301752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833872" y="3017520"/>
            <a:ext cx="1463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99999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Точки Лагранжа L1–L5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точек равновесия системы Земля–Луна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78638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828800"/>
                <a:gridCol w="1828800"/>
                <a:gridCol w="146304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Точка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x, тыс. 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y, тыс. км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Метод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Ост. ускор., м/с²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A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323 696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446 531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−386 651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Бисекция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332 925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Ньютон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188 081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−332 925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Ньютон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10⁻¹⁸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657600"/>
            <a:ext cx="7863840" cy="7772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675888"/>
            <a:ext cx="7498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в Desmos → смена знака → бисекция → точность &lt; 10⁻¹⁸ м/с²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041648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Аналитические приближения (сфера Хилла) дают отн. ошибку 0.4–0.8% — численное решение точнее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Гало-орбита L1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/sessions/fervent-ecstatic-fermi/mnt/spacerocketlauncher/docs/presentation_scenarios/01_ha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Амплитуда Az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км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Период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293 ч (12.2 дня)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Замыкание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км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Дрейф Якоби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 × 10⁻¹¹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возврат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/sessions/fervent-ecstatic-fermi/mnt/spacerocketlauncher/docs/presentation_scenarios/02_free_retu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Пролёт Луны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3 399 км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Возврат к Земле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8 081 км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полёта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ч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м/с → Δr Луна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 км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Перелёт с тягой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4" name="Image 0" descr="/sessions/fervent-ecstatic-fermi/mnt/spacerocketlauncher/docs/presentation_scenarios/04_thru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43000"/>
            <a:ext cx="5303520" cy="39776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17920" y="1143000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0" y="11704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Тяга / время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0080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Н / 3 ч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17920" y="1856232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188366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 м/с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217920" y="2569464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259689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Пролёт Луны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28437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2 494 км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6217920" y="3282696"/>
            <a:ext cx="2651760" cy="62179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0" y="33101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Топливо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00800" y="355701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кг (3.6%)</a:t>
            </a:r>
            <a:endParaRPr lang="en-US" sz="1700" dirty="0"/>
          </a:p>
        </p:txBody>
      </p:sp>
      <p:sp>
        <p:nvSpPr>
          <p:cNvPr id="18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Технический стек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3D-симулятор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· Three.js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~1 500 строк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283464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83464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1" name="Text 9"/>
          <p:cNvSpPr/>
          <p:nvPr/>
        </p:nvSpPr>
        <p:spPr>
          <a:xfrm>
            <a:off x="283464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NumPy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(RK45 для валидации)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7 скриптов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Деплой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632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Beget.com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vCPU · 1 GB RAM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NVMe SSD · 210 ₽/мес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75120" y="1143000"/>
            <a:ext cx="1828800" cy="1828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1234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858000" y="1645920"/>
            <a:ext cx="1463040" cy="13716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1737360"/>
            <a:ext cx="1463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· GitHub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Desmos (исследование L1–L5)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~2 500 строк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786384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26440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код написан с нуля  ·  Three.js + Python + NumPy  ·  VPS за 210 ₽/мес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литературы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4300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1612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1612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Szebehely V. Theory of Orbits: The Restricted Problem of Three Bodies. Academic Press, 1967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64592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6420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66420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Richardson D.L. Analytic construction of periodic orbits about the collinear points. Celestial Mechanics, 22(3), 1980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6712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16712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Hairer E., Lubich C., Wanner G. Geometric Numerical Integration. Springer, 2006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67004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267004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Koon W.S. et al. Dynamical Systems, the Three-Body Problem and Space Mission Design. Marsden Books, 2011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154680"/>
            <a:ext cx="7863840" cy="43891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7296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88720" y="317296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Farquhar R.W. The Control and Use of Libration-Point Satellites. NASA TR R-346, 1968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3657600"/>
            <a:ext cx="786384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75888"/>
            <a:ext cx="365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3675888"/>
            <a:ext cx="7132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NASA. Apollo by the Numbers. NASA History Division — S-IVB TLI, free-return trajectories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Эволюция проекта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546604"/>
            <a:ext cx="7863840" cy="274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665480" y="1417320"/>
            <a:ext cx="822960" cy="29260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6" name="Text 4"/>
          <p:cNvSpPr/>
          <p:nvPr/>
        </p:nvSpPr>
        <p:spPr>
          <a:xfrm>
            <a:off x="66548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Сен 2025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072388" y="1709928"/>
            <a:ext cx="9144" cy="69494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8" name="Shape 6"/>
          <p:cNvSpPr/>
          <p:nvPr/>
        </p:nvSpPr>
        <p:spPr>
          <a:xfrm>
            <a:off x="7655560" y="1417320"/>
            <a:ext cx="822960" cy="292608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9" name="Text 7"/>
          <p:cNvSpPr/>
          <p:nvPr/>
        </p:nvSpPr>
        <p:spPr>
          <a:xfrm>
            <a:off x="7655560" y="14173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 2026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062468" y="1709928"/>
            <a:ext cx="9144" cy="694944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1" name="Shape 9"/>
          <p:cNvSpPr/>
          <p:nvPr/>
        </p:nvSpPr>
        <p:spPr>
          <a:xfrm>
            <a:off x="92151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2" name="Text 10"/>
          <p:cNvSpPr/>
          <p:nvPr/>
        </p:nvSpPr>
        <p:spPr>
          <a:xfrm>
            <a:off x="92151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976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 КОЗТТ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79527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5" name="Text 13"/>
          <p:cNvSpPr/>
          <p:nvPr/>
        </p:nvSpPr>
        <p:spPr>
          <a:xfrm>
            <a:off x="179527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9352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Python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66903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18" name="Text 16"/>
          <p:cNvSpPr/>
          <p:nvPr/>
        </p:nvSpPr>
        <p:spPr>
          <a:xfrm>
            <a:off x="266903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36728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Three.js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4279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21" name="Text 19"/>
          <p:cNvSpPr/>
          <p:nvPr/>
        </p:nvSpPr>
        <p:spPr>
          <a:xfrm>
            <a:off x="354279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10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Verlet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1655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24" name="Text 22"/>
          <p:cNvSpPr/>
          <p:nvPr/>
        </p:nvSpPr>
        <p:spPr>
          <a:xfrm>
            <a:off x="441655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Лагранж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9031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27" name="Text 25"/>
          <p:cNvSpPr/>
          <p:nvPr/>
        </p:nvSpPr>
        <p:spPr>
          <a:xfrm>
            <a:off x="529031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856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Адапт. шаг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6407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30" name="Text 28"/>
          <p:cNvSpPr/>
          <p:nvPr/>
        </p:nvSpPr>
        <p:spPr>
          <a:xfrm>
            <a:off x="616407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6232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Траектории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3783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33" name="Text 31"/>
          <p:cNvSpPr/>
          <p:nvPr/>
        </p:nvSpPr>
        <p:spPr>
          <a:xfrm>
            <a:off x="703783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73608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Числ. эксп.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911592" y="2404872"/>
            <a:ext cx="310896" cy="310896"/>
          </a:xfrm>
          <a:prstGeom prst="ellipse">
            <a:avLst/>
          </a:prstGeom>
          <a:solidFill>
            <a:srgbClr val="2A2A2A"/>
          </a:solidFill>
          <a:ln/>
        </p:spPr>
      </p:sp>
      <p:sp>
        <p:nvSpPr>
          <p:cNvPr id="36" name="Text 34"/>
          <p:cNvSpPr/>
          <p:nvPr/>
        </p:nvSpPr>
        <p:spPr>
          <a:xfrm>
            <a:off x="7911592" y="24048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609840" y="2834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3749040"/>
            <a:ext cx="7863840" cy="502920"/>
          </a:xfrm>
          <a:prstGeom prst="rect">
            <a:avLst/>
          </a:prstGeom>
          <a:solidFill>
            <a:srgbClr val="2A2A2A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376732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месяцев: от теории до публикации на сайте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Пути развития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68680"/>
            <a:ext cx="2286000" cy="4114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344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Эллиптическая задача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Учёт эксцентриситета Луны (e = 0.055)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Влияние Солнца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до задачи четырёх тел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Удержание орбиты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Поддержание аппарата вблизи гало-орбиты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3749040" cy="13258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Лабораторные работы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0292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 заданий на базе симулятора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467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Численное моделирование траекторий в КОЗТТ системы Земля-Луна</dc:title>
  <dc:subject>PptxGenJS Presentation</dc:subject>
  <dc:creator>Ключников Александр</dc:creator>
  <cp:lastModifiedBy>Ключников Александр</cp:lastModifiedBy>
  <cp:revision>1</cp:revision>
  <dcterms:created xsi:type="dcterms:W3CDTF">2026-03-19T11:06:30Z</dcterms:created>
  <dcterms:modified xsi:type="dcterms:W3CDTF">2026-03-19T11:06:30Z</dcterms:modified>
</cp:coreProperties>
</file>