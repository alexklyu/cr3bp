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84" r:id="rId7"/>
    <p:sldId id="262" r:id="rId8"/>
    <p:sldId id="263" r:id="rId9"/>
    <p:sldId id="264" r:id="rId10"/>
    <p:sldId id="265" r:id="rId11"/>
    <p:sldId id="266" r:id="rId12"/>
    <p:sldId id="283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0361"/>
  </p:normalViewPr>
  <p:slideViewPr>
    <p:cSldViewPr snapToGrid="0" snapToObjects="1">
      <p:cViewPr varScale="1">
        <p:scale>
          <a:sx n="138" d="100"/>
          <a:sy n="138" d="100"/>
        </p:scale>
        <p:origin x="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8632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BB138-B941-4833-2604-8FD19A978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6D9326-455A-9150-0A8F-B11698D01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A1D25C-0493-C646-E92E-C0A4902EE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95487-ECFA-63D9-33C3-8D44EBAB6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571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736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86384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Численное интегрирование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ограниченной задаче трёх тел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инструмента для изучения движения тела в системе Земля-Луна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786384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0" y="35280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Ключников Александр</a:t>
            </a:r>
            <a:endParaRPr lang="en-US" sz="1600" dirty="0"/>
          </a:p>
          <a:p>
            <a:pPr marL="0" indent="0" algn="r">
              <a:spcBef>
                <a:spcPts val="600"/>
              </a:spcBef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</a:t>
            </a:r>
            <a:endParaRPr lang="en-US" sz="1200" dirty="0"/>
          </a:p>
          <a:p>
            <a:pPr marL="0" indent="0" algn="r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Бабинцев В.А., доцент каф. общей физики МФТИ</a:t>
            </a:r>
            <a:endParaRPr lang="en-US" sz="1200" b="1" dirty="0"/>
          </a:p>
        </p:txBody>
      </p:sp>
      <p:sp>
        <p:nvSpPr>
          <p:cNvPr id="7" name="Text 5"/>
          <p:cNvSpPr/>
          <p:nvPr/>
        </p:nvSpPr>
        <p:spPr>
          <a:xfrm>
            <a:off x="1280160" y="35280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Олимпиада Старт в науку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МФТИ, 2026</a:t>
            </a:r>
            <a:endParaRPr lang="en-US" sz="1200" dirty="0"/>
          </a:p>
        </p:txBody>
      </p:sp>
      <p:pic>
        <p:nvPicPr>
          <p:cNvPr id="10" name="Roc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20440"/>
            <a:ext cx="4572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 в тему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496312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3258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трёх тел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Классическая задача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небесной механики.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Аналитического решения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существует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19272" y="1143000"/>
            <a:ext cx="2496312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47872" y="13258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КОЗТТ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47872" y="182880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массивных тела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движутся по окружности.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Третье тело — малой массы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98464" y="1143000"/>
            <a:ext cx="2496312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27064" y="13258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Вращающаяся система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27064" y="182880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Земля и Луна неподвижны.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Появляются ускорение Кориолиса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центробежное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78638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Круговая ограниченная задача трёх тел — базовая модель для изучения динамики в системе Земля–Луна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и аналоги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КОЗТТ — базовая модель динамики Земля–Луна. Аналитического решения не существует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7315200" cy="26090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Инструмент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КОЗТТ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Тяга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Якоби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GMAT (NASA)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STK (Ansys/AGI)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Universe Sandbox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PhET Simulations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Desmos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«Орбита. Челлендж»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rocketlauncher.space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160520"/>
            <a:ext cx="7315200" cy="41148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416966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искал готовый симулятор — и не нашёл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FAFBB1-2C62-ED6A-E48D-7066D871C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149" y="1061549"/>
            <a:ext cx="2651760" cy="265176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</a:t>
            </a:r>
            <a:r>
              <a:rPr lang="en-US" sz="28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rocketlauncher.space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40080" y="3931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3D визуализация системы Земля–Луна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754880" y="3931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Три интегратора с контролем Якоби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0080" y="4251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Двигатель с настройкой окна тяги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754880" y="4251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Точки Лагранжа L1–L5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27</a:t>
            </a:r>
            <a:endParaRPr lang="en-US" sz="1000" dirty="0"/>
          </a:p>
        </p:txBody>
      </p:sp>
      <p:pic>
        <p:nvPicPr>
          <p:cNvPr id="13" name="Picture 12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35713126-5E0C-BC1E-D9D8-648DAEADC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061549"/>
            <a:ext cx="4814789" cy="26417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и задачи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863840" cy="594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16128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обучающего веб-симулятора траекторий в системе Земля–Луна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011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 теоретические основы КОЗТТ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743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Вывести уравнения движения во вращающейся системе координат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474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расчёт траектории методом Эйлера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205740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011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метод Верле, сравнить точность с Эйлером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278892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57800" y="2743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Численно найти точки Лагранжа L1–L5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352044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57800" y="3474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интерактивный 3D веб-симулятор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28001-E700-3BA0-F29A-0EFC03F23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15F353-4A35-691D-5271-FE3316334832}"/>
              </a:ext>
            </a:extLst>
          </p:cNvPr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Математическая модель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A1A565C-E760-D034-0D0C-81444F7021B1}"/>
              </a:ext>
            </a:extLst>
          </p:cNvPr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61951FF-99B4-6591-AFB2-C48FBBAFBF87}"/>
              </a:ext>
            </a:extLst>
          </p:cNvPr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Уравнения движения во вращающейся системе координат: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F7FA652-40D1-492D-58DA-FD102C732ABB}"/>
              </a:ext>
            </a:extLst>
          </p:cNvPr>
          <p:cNvSpPr/>
          <p:nvPr/>
        </p:nvSpPr>
        <p:spPr>
          <a:xfrm>
            <a:off x="640080" y="1371600"/>
            <a:ext cx="7863840" cy="1691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sessions/fervent-ecstatic-fermi/mnt/spacerocketlauncher/latex/eq_x.png">
            <a:extLst>
              <a:ext uri="{FF2B5EF4-FFF2-40B4-BE49-F238E27FC236}">
                <a16:creationId xmlns:a16="http://schemas.microsoft.com/office/drawing/2014/main" id="{C3D9850F-EFDF-E393-5375-0653C6747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4979836" cy="438912"/>
          </a:xfrm>
          <a:prstGeom prst="rect">
            <a:avLst/>
          </a:prstGeom>
        </p:spPr>
      </p:pic>
      <p:pic>
        <p:nvPicPr>
          <p:cNvPr id="7" name="Image 1" descr="/sessions/fervent-ecstatic-fermi/mnt/spacerocketlauncher/latex/eq_y.png">
            <a:extLst>
              <a:ext uri="{FF2B5EF4-FFF2-40B4-BE49-F238E27FC236}">
                <a16:creationId xmlns:a16="http://schemas.microsoft.com/office/drawing/2014/main" id="{C2D0E31B-4BA0-15AD-42CB-1000245E3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965960"/>
            <a:ext cx="4139666" cy="438912"/>
          </a:xfrm>
          <a:prstGeom prst="rect">
            <a:avLst/>
          </a:prstGeom>
        </p:spPr>
      </p:pic>
      <p:pic>
        <p:nvPicPr>
          <p:cNvPr id="8" name="Image 2" descr="/sessions/fervent-ecstatic-fermi/mnt/spacerocketlauncher/latex/eq_z.png">
            <a:extLst>
              <a:ext uri="{FF2B5EF4-FFF2-40B4-BE49-F238E27FC236}">
                <a16:creationId xmlns:a16="http://schemas.microsoft.com/office/drawing/2014/main" id="{BE7AC61E-8739-3B05-83DC-38FEFD7716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468880"/>
            <a:ext cx="2673073" cy="438912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83E65C9F-E03E-6118-4A56-A68E454D21BC}"/>
              </a:ext>
            </a:extLst>
          </p:cNvPr>
          <p:cNvSpPr/>
          <p:nvPr/>
        </p:nvSpPr>
        <p:spPr>
          <a:xfrm>
            <a:off x="640080" y="3291840"/>
            <a:ext cx="124968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9E93406C-AD5C-FDCA-0509-B0261851FDE9}"/>
              </a:ext>
            </a:extLst>
          </p:cNvPr>
          <p:cNvSpPr/>
          <p:nvPr/>
        </p:nvSpPr>
        <p:spPr>
          <a:xfrm>
            <a:off x="716280" y="3328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endParaRPr lang="en-US" sz="15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AC3778B-F0D2-7FEE-5963-9B8870B8548A}"/>
              </a:ext>
            </a:extLst>
          </p:cNvPr>
          <p:cNvSpPr/>
          <p:nvPr/>
        </p:nvSpPr>
        <p:spPr>
          <a:xfrm>
            <a:off x="716280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грав. постоянная</a:t>
            </a:r>
            <a:endParaRPr lang="en-US" sz="11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7631138A-A93B-0105-7E2D-E710FA8C9AA0}"/>
              </a:ext>
            </a:extLst>
          </p:cNvPr>
          <p:cNvSpPr/>
          <p:nvPr/>
        </p:nvSpPr>
        <p:spPr>
          <a:xfrm>
            <a:off x="1962912" y="3291840"/>
            <a:ext cx="124968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80E1BA65-8CB4-166D-E37D-963111C2C7EE}"/>
              </a:ext>
            </a:extLst>
          </p:cNvPr>
          <p:cNvSpPr/>
          <p:nvPr/>
        </p:nvSpPr>
        <p:spPr>
          <a:xfrm>
            <a:off x="2037937" y="3328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Mₑ, Mₘ</a:t>
            </a:r>
            <a:endParaRPr lang="en-US" sz="15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D235FD8B-4F88-B0B8-AE1E-2CD7F09E5482}"/>
              </a:ext>
            </a:extLst>
          </p:cNvPr>
          <p:cNvSpPr/>
          <p:nvPr/>
        </p:nvSpPr>
        <p:spPr>
          <a:xfrm>
            <a:off x="2037937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массы</a:t>
            </a: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</a:t>
            </a:r>
            <a:endParaRPr lang="en-US" sz="11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C61669DE-996A-C63E-E04A-750F7EA4E005}"/>
              </a:ext>
            </a:extLst>
          </p:cNvPr>
          <p:cNvSpPr/>
          <p:nvPr/>
        </p:nvSpPr>
        <p:spPr>
          <a:xfrm>
            <a:off x="3285744" y="3291840"/>
            <a:ext cx="124968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838D998C-5E79-56B2-FE04-1508FC588089}"/>
              </a:ext>
            </a:extLst>
          </p:cNvPr>
          <p:cNvSpPr/>
          <p:nvPr/>
        </p:nvSpPr>
        <p:spPr>
          <a:xfrm>
            <a:off x="3359594" y="3328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dₑ, dₘ</a:t>
            </a:r>
            <a:endParaRPr lang="en-US" sz="15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65AEFAD7-B637-21ED-BBE9-65AEE977454C}"/>
              </a:ext>
            </a:extLst>
          </p:cNvPr>
          <p:cNvSpPr/>
          <p:nvPr/>
        </p:nvSpPr>
        <p:spPr>
          <a:xfrm>
            <a:off x="3359594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барицентра</a:t>
            </a:r>
            <a:endParaRPr lang="en-US" sz="11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558448AA-39E4-6351-2A9E-7B10FF225ACC}"/>
              </a:ext>
            </a:extLst>
          </p:cNvPr>
          <p:cNvSpPr/>
          <p:nvPr/>
        </p:nvSpPr>
        <p:spPr>
          <a:xfrm>
            <a:off x="4608576" y="3291840"/>
            <a:ext cx="124968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DD240196-DF0D-18D2-59EA-73AE83324CC8}"/>
              </a:ext>
            </a:extLst>
          </p:cNvPr>
          <p:cNvSpPr/>
          <p:nvPr/>
        </p:nvSpPr>
        <p:spPr>
          <a:xfrm>
            <a:off x="4681251" y="3328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rₑ, rₘ</a:t>
            </a:r>
            <a:endParaRPr lang="en-US" sz="15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E43AEFE2-6917-CCED-049C-25BEA0DA837F}"/>
              </a:ext>
            </a:extLst>
          </p:cNvPr>
          <p:cNvSpPr/>
          <p:nvPr/>
        </p:nvSpPr>
        <p:spPr>
          <a:xfrm>
            <a:off x="4681251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центров масс</a:t>
            </a:r>
            <a:endParaRPr lang="en-US" sz="1100" dirty="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157C1D48-E043-3285-8524-1984F0F9CD95}"/>
              </a:ext>
            </a:extLst>
          </p:cNvPr>
          <p:cNvSpPr/>
          <p:nvPr/>
        </p:nvSpPr>
        <p:spPr>
          <a:xfrm>
            <a:off x="5931408" y="3291840"/>
            <a:ext cx="124968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69E34680-82A0-449C-B83F-DA2952536F4B}"/>
              </a:ext>
            </a:extLst>
          </p:cNvPr>
          <p:cNvSpPr/>
          <p:nvPr/>
        </p:nvSpPr>
        <p:spPr>
          <a:xfrm>
            <a:off x="6002908" y="3328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ω</a:t>
            </a:r>
            <a:endParaRPr lang="en-US" sz="15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4B209482-E571-868A-84C4-8902A81C751C}"/>
              </a:ext>
            </a:extLst>
          </p:cNvPr>
          <p:cNvSpPr/>
          <p:nvPr/>
        </p:nvSpPr>
        <p:spPr>
          <a:xfrm>
            <a:off x="6002908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угл. скорость</a:t>
            </a:r>
            <a:endParaRPr lang="en-US" sz="1100" dirty="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248A66D2-2D0E-21C3-C790-C035E2C676A1}"/>
              </a:ext>
            </a:extLst>
          </p:cNvPr>
          <p:cNvSpPr/>
          <p:nvPr/>
        </p:nvSpPr>
        <p:spPr>
          <a:xfrm>
            <a:off x="640080" y="4023360"/>
            <a:ext cx="4645152" cy="45720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5557098D-EBDD-7C8C-C369-EDF368C888F1}"/>
              </a:ext>
            </a:extLst>
          </p:cNvPr>
          <p:cNvSpPr/>
          <p:nvPr/>
        </p:nvSpPr>
        <p:spPr>
          <a:xfrm>
            <a:off x="777240" y="405079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2ωẋ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и  </a:t>
            </a: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−2ωẏ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ускорение</a:t>
            </a:r>
            <a:r>
              <a:rPr lang="ru-R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от силы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Кориолиса. Зависит от скорости</a:t>
            </a:r>
            <a:endParaRPr lang="en-US" sz="13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19464F16-538F-C8BB-BEF2-EF4B2E44E8BD}"/>
              </a:ext>
            </a:extLst>
          </p:cNvPr>
          <p:cNvSpPr/>
          <p:nvPr/>
        </p:nvSpPr>
        <p:spPr>
          <a:xfrm>
            <a:off x="5358384" y="402336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модель </a:t>
            </a:r>
            <a:r>
              <a:rPr lang="en-US" sz="1200" i="1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тяги</a:t>
            </a: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 = const</a:t>
            </a:r>
            <a:r>
              <a:rPr lang="ru-RU" sz="1200" i="1" dirty="0">
                <a:solidFill>
                  <a:srgbClr val="666666"/>
                </a:solidFill>
                <a:latin typeface="Calibri" pitchFamily="34" charset="0"/>
                <a:ea typeface="Cambria Math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окне </a:t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[tₒₙ, t</a:t>
            </a:r>
            <a:r>
              <a:rPr lang="en-US" sz="1200" i="1" baseline="-250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off</a:t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]</a:t>
            </a:r>
            <a:endParaRPr lang="en-US" sz="120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0D47A120-D078-AC80-BB4F-DB20B0920C99}"/>
              </a:ext>
            </a:extLst>
          </p:cNvPr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27</a:t>
            </a:r>
            <a:endParaRPr lang="en-US" sz="1000" dirty="0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1D206C7B-0635-AC9D-D228-C208D0D2E9B8}"/>
              </a:ext>
            </a:extLst>
          </p:cNvPr>
          <p:cNvSpPr/>
          <p:nvPr/>
        </p:nvSpPr>
        <p:spPr>
          <a:xfrm>
            <a:off x="7254240" y="3291840"/>
            <a:ext cx="124968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69E8646B-ABA6-D48D-9669-D19F090764A7}"/>
              </a:ext>
            </a:extLst>
          </p:cNvPr>
          <p:cNvSpPr/>
          <p:nvPr/>
        </p:nvSpPr>
        <p:spPr>
          <a:xfrm>
            <a:off x="7330440" y="3328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M - 𝛌t</a:t>
            </a:r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4F94A453-F180-48F8-31BF-A638502D8E66}"/>
              </a:ext>
            </a:extLst>
          </p:cNvPr>
          <p:cNvSpPr/>
          <p:nvPr/>
        </p:nvSpPr>
        <p:spPr>
          <a:xfrm>
            <a:off x="7330440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1100" i="1" dirty="0">
                <a:solidFill>
                  <a:srgbClr val="666666"/>
                </a:solidFill>
                <a:latin typeface="Calibri" pitchFamily="34" charset="0"/>
                <a:cs typeface="Calibri" pitchFamily="34" charset="-120"/>
              </a:rPr>
              <a:t>масса топлива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65150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 применимости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496312" cy="20116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Круговая орбита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Орбита Луны считается круговой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(реальный эксцентриситет = 0.055)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19272" y="1143000"/>
            <a:ext cx="2496312" cy="20116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47872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47872" y="1691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Малая масса КА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47872" y="210312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Масса аппарата пренебрежимо мала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сравнению с Землёй и Луной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98464" y="1143000"/>
            <a:ext cx="2496312" cy="20116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27064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27064" y="1691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Солнца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27064" y="210312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учитывается притяжение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Солнца и других тел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78638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384048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корректна для качественного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изучения динамики и учебных целей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3611880"/>
            <a:ext cx="384048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реальных миссий используются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полные эфемеридные модели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интегратора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496312" cy="2468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Эйлера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1664208"/>
            <a:ext cx="2039112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Простой, </a:t>
            </a:r>
            <a:r>
              <a:rPr lang="en-US" sz="12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</a:t>
            </a: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O(h)</a:t>
            </a:r>
            <a:endParaRPr lang="en-US" sz="1200" i="1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сохраняет энергию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117276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O(h)</a:t>
            </a:r>
            <a:endParaRPr lang="en-US" sz="2000" i="1" dirty="0"/>
          </a:p>
        </p:txBody>
      </p:sp>
      <p:sp>
        <p:nvSpPr>
          <p:cNvPr id="9" name="Shape 7"/>
          <p:cNvSpPr/>
          <p:nvPr/>
        </p:nvSpPr>
        <p:spPr>
          <a:xfrm>
            <a:off x="3319272" y="1143000"/>
            <a:ext cx="2496312" cy="2468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47872" y="12344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стандартный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47872" y="1664208"/>
            <a:ext cx="2039112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47872" y="178308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Симплектический, </a:t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O(h²)</a:t>
            </a: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теор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</a:t>
            </a: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Кориолис</a:t>
            </a:r>
            <a:r>
              <a:rPr lang="ru-RU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все портит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Деградация</a:t>
            </a: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r>
              <a:rPr lang="ru-RU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O(h)</a:t>
            </a: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КОЗТТ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47872" y="3117276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O(h)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КОЗТТ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998464" y="1143000"/>
            <a:ext cx="2496312" cy="246888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27064" y="12344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итерированный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27064" y="1664208"/>
            <a:ext cx="2039112" cy="13716"/>
          </a:xfrm>
          <a:prstGeom prst="rect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27064" y="178308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итерации за шаг уточняют </a:t>
            </a:r>
            <a:r>
              <a:rPr lang="en-US" sz="1200" dirty="0">
                <a:solidFill>
                  <a:srgbClr val="CCCCC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Восстанавливает</a:t>
            </a: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</a:t>
            </a:r>
            <a:r>
              <a:rPr lang="ru-RU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>
                <a:solidFill>
                  <a:srgbClr val="CCCCC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O(h²)</a:t>
            </a:r>
            <a:endParaRPr lang="en-US" sz="1200" i="1" dirty="0"/>
          </a:p>
        </p:txBody>
      </p:sp>
      <p:sp>
        <p:nvSpPr>
          <p:cNvPr id="18" name="Text 16"/>
          <p:cNvSpPr/>
          <p:nvPr/>
        </p:nvSpPr>
        <p:spPr>
          <a:xfrm>
            <a:off x="6227064" y="3117276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O(h²)</a:t>
            </a:r>
            <a:endParaRPr lang="en-US" sz="2000" i="1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786384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382219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Кориолисово ускорение </a:t>
            </a:r>
            <a:r>
              <a:rPr lang="en-US" sz="1300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2ω × v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зависит от скорости → стандартный Верле теряет порядок → итерации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восстанавливают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300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(h²)</a:t>
            </a:r>
            <a:endParaRPr lang="en-US" sz="1300" i="1" dirty="0"/>
          </a:p>
        </p:txBody>
      </p:sp>
      <p:sp>
        <p:nvSpPr>
          <p:cNvPr id="22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Интеграл Якоби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Единственная сохраняющаяся величина в КОЗТТ</a:t>
            </a:r>
            <a:endParaRPr lang="en-US" sz="1500" dirty="0"/>
          </a:p>
        </p:txBody>
      </p:sp>
      <p:pic>
        <p:nvPicPr>
          <p:cNvPr id="5" name="Image 0" descr="/sessions/fervent-ecstatic-fermi/mnt/spacerocketlauncher/latex/jacobi_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1554480"/>
            <a:ext cx="4059936" cy="777240"/>
          </a:xfrm>
          <a:prstGeom prst="rect">
            <a:avLst/>
          </a:prstGeom>
        </p:spPr>
      </p:pic>
      <p:pic>
        <p:nvPicPr>
          <p:cNvPr id="6" name="Image 1" descr="/sessions/fervent-ecstatic-fermi/mnt/spacerocketlauncher/latex/jacobi_dri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368" y="2377440"/>
            <a:ext cx="3255264" cy="320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640080" y="2880360"/>
            <a:ext cx="1874520" cy="12801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77240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0.001%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77240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Отлично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633472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2633472" y="2880360"/>
            <a:ext cx="1874520" cy="128016"/>
          </a:xfrm>
          <a:prstGeom prst="rect">
            <a:avLst/>
          </a:prstGeom>
          <a:solidFill>
            <a:srgbClr val="EAB3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770632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0.01%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770632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626864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626864" y="2880360"/>
            <a:ext cx="1874520" cy="12801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764024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0.1%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764024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Допустимо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620256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620256" y="2880360"/>
            <a:ext cx="1874520" cy="12801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757416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0.1%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757416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Плохо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Log-log сходимость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experiments/02_integrator_comparison/log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530352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371600"/>
            <a:ext cx="27432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80760" y="1399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Эйлер</a:t>
            </a:r>
            <a:endParaRPr lang="en-US" sz="1300" dirty="0"/>
          </a:p>
        </p:txBody>
      </p:sp>
      <p:pic>
        <p:nvPicPr>
          <p:cNvPr id="7" name="Image 1" descr="/sessions/fervent-ecstatic-fermi/mnt/spacerocketlauncher/latex/slope_eu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664208"/>
            <a:ext cx="1472184" cy="2011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943600" y="2011680"/>
            <a:ext cx="27432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080760" y="2039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стандарт.</a:t>
            </a:r>
            <a:endParaRPr lang="en-US" sz="1300" dirty="0"/>
          </a:p>
        </p:txBody>
      </p:sp>
      <p:pic>
        <p:nvPicPr>
          <p:cNvPr id="10" name="Image 2" descr="/sessions/fervent-ecstatic-fermi/mnt/spacerocketlauncher/latex/slope_verlet_st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304288"/>
            <a:ext cx="1472184" cy="2011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943600" y="2651760"/>
            <a:ext cx="27432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6080760" y="2679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итерир.</a:t>
            </a:r>
            <a:endParaRPr lang="en-US" sz="1300" dirty="0"/>
          </a:p>
        </p:txBody>
      </p:sp>
      <p:pic>
        <p:nvPicPr>
          <p:cNvPr id="13" name="Image 3" descr="/sessions/fervent-ecstatic-fermi/mnt/spacerocketlauncher/latex/slope_verlet_i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2944368"/>
            <a:ext cx="1472184" cy="20116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943600" y="3246120"/>
            <a:ext cx="2743200" cy="123444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/>
          <p:nvPr/>
        </p:nvSpPr>
        <p:spPr>
          <a:xfrm>
            <a:off x="6080760" y="3291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= 30 с  |  R² = 0.999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080760" y="3520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Эйлер:    8 400 м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Верле ст.: 1 900 м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Верле ит.:   0.13 м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080760" y="4096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49 000× точнее по позиции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Адаптивный шаг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Вблизи тел </a:t>
            </a:r>
            <a:r>
              <a:rPr lang="en-US" sz="15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1/r</a:t>
            </a: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растёт → нужен мелкий шаг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7863840" cy="9144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sessions/fervent-ecstatic-fermi/mnt/spacerocketlauncher/latex/adaptive_d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691640"/>
            <a:ext cx="2532888" cy="731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697480"/>
            <a:ext cx="2496312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Далеко от тел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dt = dt</a:t>
            </a:r>
            <a:r>
              <a:rPr lang="en-US" sz="900" baseline="-400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max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Силы малы, шаг максимален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19272" y="2697480"/>
            <a:ext cx="2496312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502152" y="27889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Переходная зона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02152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dt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уменьшается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пропорционально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98464" y="2697480"/>
            <a:ext cx="2496312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81344" y="27889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Вблизи тела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181344" y="320040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dt ≈ dt</a:t>
            </a:r>
            <a:r>
              <a:rPr lang="en-US" sz="900" baseline="-400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min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Силы велики, шаг минимален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154680" y="301752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833872" y="301752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точек Лагранжа: Desmos</a:t>
            </a:r>
            <a:endParaRPr lang="en-US" sz="2800" dirty="0"/>
          </a:p>
        </p:txBody>
      </p:sp>
      <p:sp>
        <p:nvSpPr>
          <p:cNvPr id="3" name="Dark bar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ubtitle"/>
          <p:cNvSpPr/>
          <p:nvPr/>
        </p:nvSpPr>
        <p:spPr>
          <a:xfrm>
            <a:off x="640080" y="1006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Графический анализ </a:t>
            </a:r>
            <a:r>
              <a:rPr lang="en-US" sz="14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суммарного</a:t>
            </a: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ускорения</a:t>
            </a: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Desmos</a:t>
            </a:r>
            <a:endParaRPr lang="en-US" sz="1400" dirty="0"/>
          </a:p>
        </p:txBody>
      </p:sp>
      <p:pic>
        <p:nvPicPr>
          <p:cNvPr id="5" name="Desmos Grap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3200400" cy="3200400"/>
          </a:xfrm>
          <a:prstGeom prst="rect">
            <a:avLst/>
          </a:prstGeom>
          <a:ln w="12700">
            <a:solidFill>
              <a:srgbClr val="E0E0E0"/>
            </a:solidFill>
          </a:ln>
        </p:spPr>
      </p:pic>
      <p:sp>
        <p:nvSpPr>
          <p:cNvPr id="6" name="Step 1"/>
          <p:cNvSpPr/>
          <p:nvPr/>
        </p:nvSpPr>
        <p:spPr>
          <a:xfrm>
            <a:off x="4114800" y="1463040"/>
            <a:ext cx="457200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</a:rPr>
              <a:t>График ускорений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</a:rPr>
              <a:t>Построены графики гравитационного и центробежного ускорений. В точке пересечения суммарное ускорение обращается в ноль</a:t>
            </a:r>
          </a:p>
        </p:txBody>
      </p:sp>
      <p:sp>
        <p:nvSpPr>
          <p:cNvPr id="7" name="Step 2"/>
          <p:cNvSpPr/>
          <p:nvPr/>
        </p:nvSpPr>
        <p:spPr>
          <a:xfrm>
            <a:off x="4114800" y="2286000"/>
            <a:ext cx="457200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</a:rPr>
              <a:t>Последовательное приближение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</a:rPr>
              <a:t>Многократное масштабирование области пересечения для определения координат с максимальной точностью</a:t>
            </a:r>
          </a:p>
        </p:txBody>
      </p:sp>
      <p:sp>
        <p:nvSpPr>
          <p:cNvPr id="8" name="Step 3"/>
          <p:cNvSpPr/>
          <p:nvPr/>
        </p:nvSpPr>
        <p:spPr>
          <a:xfrm>
            <a:off x="4114800" y="3108960"/>
            <a:ext cx="4572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От графика к алгоритму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Графическое исследование привело к формализации метода бисекции для автоматического </a:t>
            </a:r>
            <a:r>
              <a:rPr lang="en-US" sz="1200" dirty="0" err="1">
                <a:solidFill>
                  <a:srgbClr val="CCCCCC"/>
                </a:solidFill>
                <a:latin typeface="Calibri" pitchFamily="34" charset="0"/>
              </a:rPr>
              <a:t>поиска</a:t>
            </a: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 </a:t>
            </a:r>
            <a:r>
              <a:rPr lang="ru-RU" sz="1200" dirty="0">
                <a:solidFill>
                  <a:srgbClr val="CCCCCC"/>
                </a:solidFill>
                <a:latin typeface="Calibri" pitchFamily="34" charset="0"/>
              </a:rPr>
              <a:t>точек Лагранжа</a:t>
            </a:r>
            <a:endParaRPr lang="en-US" sz="1200" dirty="0">
              <a:solidFill>
                <a:srgbClr val="CCCCCC"/>
              </a:solidFill>
              <a:latin typeface="Calibri" pitchFamily="34" charset="0"/>
            </a:endParaRPr>
          </a:p>
        </p:txBody>
      </p:sp>
      <p:sp>
        <p:nvSpPr>
          <p:cNvPr id="10" name="Page Number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Лагранжа L1–L5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точек равновесия системы Земля–Луна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7863840" cy="212140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x, тыс. 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y, тыс. 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Ост. ускор., м/с²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323 696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Бисекция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446 531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Бисекция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−386 651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Бисекция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188 081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332 925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Ньютон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188 081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−332 925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Ньютон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657600"/>
            <a:ext cx="786384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367588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в Desmos → смена знака → бисекция → точность &lt; 10⁻¹⁸ м/с²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04164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Аналитические приближения (сфера Хилла) дают отн. ошибку 0.4–0.8% — численное решение точнее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вклад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Физика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51760" y="11430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уравнений движения КОЗТТ во вращающейся системе координат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1760" y="17373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еализация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интеграла Якоби как инструмента проверки точности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Числ. методы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3317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интегратора; обнаружение деградации Верле и реализация итерированного варианта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29260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Серия из 7 вычислительных экспериментов для количественной верификации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35204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Нахождение точек Лагранжа L1–L5: бисекция + метод Ньютона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51760" y="41148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веб-симулятор + скрипты поиска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начальных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условий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Пути развития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749040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Эллиптическая задача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эксцентриситета Луны (e = 0.055)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3749040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417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Влияние Солнца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до задачи четырёх тел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3749040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Удержание орбиты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Поддержание аппарата вблизи гало-орбиты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3749040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Лабораторные работы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Набор заданий на базе симулятора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16128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14300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Изучены теоретические основы КОЗТТ, выведены уравнения движения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01368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81965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80136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Реализованы 3 интегратора; итерированный Верле точнее Эйлера в 58 000×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59736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47802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45973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Лагранжа L1–L5 найдены численно (ост. уск. &lt; 10⁻¹⁸)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118104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13639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11810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верифицирована серией из 7 численных экспериментов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776472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379476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7764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 обучающий 3D веб-симулятор, опубликован онлайн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0" y="914400"/>
            <a:ext cx="36576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qr_sim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188720"/>
            <a:ext cx="310896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МФТИ  ·  Старт в науку  ·  2026  ·  Ключников Александр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0"/>
            <a:ext cx="786384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Дополнительные материалы для ответов на вопросы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инструмент для лабораторных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Симулятор готов к использованию в учебном процессе — без установки, в браузере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Гало-орбиты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Параметрическое исследование: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период, замыкание, дрейф Якоби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3464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3464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возврат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3464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Чувствительность к начальным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условиям, облёт Луны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4632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Хаос и Ляпунов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 предсказуемости,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расхождение траекторий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 тяги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окна включения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двигателя для манёвра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42062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Браузерный доступ  ·  Не требует установки  ·  7 готовых экспериментов  ·  Открытый код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Хаос у L1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docs/presentation_scenarios/03_cha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Δv₀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м/с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Показатель Ляпунова λ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 сут⁻¹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 предсказуемости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суток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Направлений / время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 сут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27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интеграторов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Дрейф интеграла Якоби, гало-орбита L1, dt = 30 с, T = 720 ч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156362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Интегратор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Режим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Макс. дрейф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Эйлер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фикс.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 × 10⁻⁶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Верле полушаг.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фикс.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 × 10⁻⁶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Верле итерир.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фикс.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 × 10⁻¹¹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108960"/>
            <a:ext cx="3840480" cy="11887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312724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58 000×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640080" y="3840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дрейфу Якоби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3108960"/>
            <a:ext cx="3840480" cy="11887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663440" y="312724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49 000×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4663440" y="3840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ошибке позиции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27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Гало-орбита L1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docs/presentation_scenarios/01_ha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Амплитуда Az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 км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 ч (12.2 дня)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Замыкание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км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Дрейф Якоби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 × 10⁻¹¹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27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возврат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docs/presentation_scenarios/02_free_ret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Пролёт Луны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3 399 км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 к Земле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8 081 км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полёта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ч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м/с → Δr Луна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+89 км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27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Перелёт с тягой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docs/presentation_scenarios/04_th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Тяга / время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Н / 3 ч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м/с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Пролёт Луны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2 494 км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Топливо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кг (3.6%)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27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Технический стек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3D-симулятор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Three.js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~1 500 строк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3464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3464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3464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NumPy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(RK45 для валидации)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7 скриптов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Деплой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4632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Beget.com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vCPU · 1 GB RAM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 SSD · 210 ₽/мес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GitHub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Desmos (исследование L1–L5)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~2 500 строк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246120"/>
            <a:ext cx="786384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32644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код написан с нуля  ·  Three.js + Python + NumPy  ·  VPS за 210 ₽/мес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27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литературы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86384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16128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16128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Szebehely V. Theory of Orbits: The Restricted Problem of Three Bodies. Academic Press, 1967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78638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66420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66420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Richardson D.L. Analytic construction of periodic orbits about the collinear points. Celestial Mechanics, 22(3), 1980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786384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16712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16712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Hairer E., Lubich C., Wanner G. Geometric Numerical Integration. Springer, 2006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78638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67004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67004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Koon W.S. et al. Dynamical Systems, the Three-Body Problem and Space Mission Design. Marsden Books, 2011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786384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17296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17296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Farquhar R.W. The Control and Use of Libration-Point Satellites. NASA TR R-346, 1968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78638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67588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67588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NASA. Apollo by the Numbers. NASA History Division — S-IVB TLI, free-return trajectories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27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Эволюция проекта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2546604"/>
            <a:ext cx="7863840" cy="2743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5480" y="1417320"/>
            <a:ext cx="822960" cy="29260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5480" y="1417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 2025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72388" y="1709928"/>
            <a:ext cx="9144" cy="694944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55560" y="1417320"/>
            <a:ext cx="822960" cy="29260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55560" y="1417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62468" y="1709928"/>
            <a:ext cx="9144" cy="694944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2151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2151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976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КОЗТТ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9527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79527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9352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Python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6903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6903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6728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Three.js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4279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4279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104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1655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1655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Лагранж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9031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9031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856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Адапт. шаг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6407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6407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6232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Траектории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3783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3783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3608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Числ. эксп.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91159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91159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0984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3749040"/>
            <a:ext cx="786384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22960" y="376732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месяцев: от теории до публикации на сайте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1520</Words>
  <Application>Microsoft Macintosh PowerPoint</Application>
  <PresentationFormat>On-screen Show (16:9)</PresentationFormat>
  <Paragraphs>430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Численное моделирование траекторий в КОЗТТ системы Земля-Луна</dc:title>
  <dc:subject>PptxGenJS Presentation</dc:subject>
  <dc:creator>Ключников Александр</dc:creator>
  <cp:lastModifiedBy>Vyacheslav Klyuchnikov</cp:lastModifiedBy>
  <cp:revision>5</cp:revision>
  <dcterms:created xsi:type="dcterms:W3CDTF">2026-03-19T13:12:59Z</dcterms:created>
  <dcterms:modified xsi:type="dcterms:W3CDTF">2026-03-22T10:52:09Z</dcterms:modified>
</cp:coreProperties>
</file>