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84" r:id="rId7"/>
    <p:sldId id="262" r:id="rId8"/>
    <p:sldId id="263" r:id="rId9"/>
    <p:sldId id="264" r:id="rId10"/>
    <p:sldId id="265" r:id="rId11"/>
    <p:sldId id="266" r:id="rId12"/>
    <p:sldId id="283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6" r:id="rId21"/>
    <p:sldId id="277" r:id="rId22"/>
    <p:sldId id="278" r:id="rId23"/>
    <p:sldId id="275" r:id="rId24"/>
    <p:sldId id="273" r:id="rId25"/>
    <p:sldId id="279" r:id="rId26"/>
    <p:sldId id="280" r:id="rId27"/>
    <p:sldId id="281" r:id="rId28"/>
    <p:sldId id="285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/>
    <p:restoredTop sz="90398"/>
  </p:normalViewPr>
  <p:slideViewPr>
    <p:cSldViewPr snapToGrid="0" snapToObjects="1">
      <p:cViewPr varScale="1">
        <p:scale>
          <a:sx n="152" d="100"/>
          <a:sy n="152" d="100"/>
        </p:scale>
        <p:origin x="4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8632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BB138-B941-4833-2604-8FD19A978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6D9326-455A-9150-0A8F-B11698D01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1D25C-0493-C646-E92E-C0A4902EE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795487-ECFA-63D9-33C3-8D44EBAB6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571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736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786384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integration</a:t>
            </a:r>
            <a:endParaRPr lang="en-US" sz="3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restricted three-body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tool for studying motion in the Earth–Moon system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786384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0" y="35280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Klyuchnikov</a:t>
            </a:r>
            <a:endParaRPr lang="en-US" sz="1600" dirty="0"/>
          </a:p>
          <a:p>
            <a:pPr marL="0" indent="0" algn="r">
              <a:spcBef>
                <a:spcPts val="600"/>
              </a:spcBef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  <a:p>
            <a:pPr marL="0" indent="0" algn="r">
              <a:buNone/>
            </a:pPr>
            <a:r>
              <a:rPr lang="en-US" sz="12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A. Babintsev, Associate Professor, Dept. of General Physics, MIPT</a:t>
            </a:r>
            <a:endParaRPr lang="en-US" sz="1200" b="1" dirty="0"/>
          </a:p>
        </p:txBody>
      </p:sp>
      <p:sp>
        <p:nvSpPr>
          <p:cNvPr id="7" name="Text 5"/>
          <p:cNvSpPr/>
          <p:nvPr/>
        </p:nvSpPr>
        <p:spPr>
          <a:xfrm>
            <a:off x="1280160" y="35280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“Start in Science” Olympiad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MIPT, 2026</a:t>
            </a:r>
            <a:endParaRPr lang="en-US" sz="1200" dirty="0"/>
          </a:p>
        </p:txBody>
      </p:sp>
      <p:pic>
        <p:nvPicPr>
          <p:cNvPr id="10" name="Rocke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20440"/>
            <a:ext cx="457200" cy="60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2496312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325880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three-body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problem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celestial mechanics.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analytical solution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19272" y="1143000"/>
            <a:ext cx="2496312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47872" y="1325880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CR3BP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47872" y="1828800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massive bodies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on circular orbits.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body has negligible mass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98464" y="1143000"/>
            <a:ext cx="2496312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27064" y="1325880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frame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227064" y="1828800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and Moon are stationary.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Coriolis and centrifugal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accelerations appear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7863840" cy="1371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circular restricted three-body problem is the basic model for studying dynamics in the Earth–Moon system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and existing tools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CR3BP is the basic model of Earth–Moon dynamics. No analytical solution exists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7315200" cy="26090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CR3BP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Thrust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Jacobi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GMAT (NASA)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 (Ansys/AGI)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Universe Sandbox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PhET Simulations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“Orbit. Challenge”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rocketlauncher.space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160520"/>
            <a:ext cx="7315200" cy="41148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416966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looked for an existing simulator and found none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FAFBB1-2C62-ED6A-E48D-7066D871C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149" y="1061549"/>
            <a:ext cx="2651760" cy="265176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28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rocketlauncher.space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640080" y="39319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3D visualisation of the Earth–Moon system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754880" y="39319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Three integrators with Jacobi-based accuracy control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4251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Engine with a configurable thrust window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754880" y="4251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Lagrange points L1–L5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  <p:pic>
        <p:nvPicPr>
          <p:cNvPr id="13" name="Picture 12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35713126-5E0C-BC1E-D9D8-648DAEADC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061549"/>
            <a:ext cx="4814789" cy="26417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and 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786384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161288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educational web simulator for trajectories in the Earth–Moon system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365760" cy="365760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the theoretical foundations of the CR3BP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2743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the equations of motion in a rotating frame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3474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trajectory computation using the Euler method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2057400"/>
            <a:ext cx="365760" cy="365760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57800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Verlet method and compare its accuracy with Euler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2788920"/>
            <a:ext cx="365760" cy="365760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57800" y="2743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Lagrange points L1–L5 numerically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3520440"/>
            <a:ext cx="365760" cy="365760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54880" y="3520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3474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interactive 3D web simulator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28001-E700-3BA0-F29A-0EFC03F23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15F353-4A35-691D-5271-FE3316334832}"/>
              </a:ext>
            </a:extLst>
          </p:cNvPr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model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A1A565C-E760-D034-0D0C-81444F7021B1}"/>
              </a:ext>
            </a:extLst>
          </p:cNvPr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61951FF-99B4-6591-AFB2-C48FBBAFBF87}"/>
              </a:ext>
            </a:extLst>
          </p:cNvPr>
          <p:cNvSpPr/>
          <p:nvPr/>
        </p:nvSpPr>
        <p:spPr>
          <a:xfrm>
            <a:off x="640080" y="1051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of motion in the rotating frame: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F7FA652-40D1-492D-58DA-FD102C732ABB}"/>
              </a:ext>
            </a:extLst>
          </p:cNvPr>
          <p:cNvSpPr/>
          <p:nvPr/>
        </p:nvSpPr>
        <p:spPr>
          <a:xfrm>
            <a:off x="640080" y="1371600"/>
            <a:ext cx="7863840" cy="1691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sessions/fervent-ecstatic-fermi/mnt/spacerocketlauncher/latex/eq_x.png">
            <a:extLst>
              <a:ext uri="{FF2B5EF4-FFF2-40B4-BE49-F238E27FC236}">
                <a16:creationId xmlns:a16="http://schemas.microsoft.com/office/drawing/2014/main" id="{C3D9850F-EFDF-E393-5375-0653C6747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63040"/>
            <a:ext cx="4979836" cy="438912"/>
          </a:xfrm>
          <a:prstGeom prst="rect">
            <a:avLst/>
          </a:prstGeom>
        </p:spPr>
      </p:pic>
      <p:pic>
        <p:nvPicPr>
          <p:cNvPr id="7" name="Image 1" descr="/sessions/fervent-ecstatic-fermi/mnt/spacerocketlauncher/latex/eq_y.png">
            <a:extLst>
              <a:ext uri="{FF2B5EF4-FFF2-40B4-BE49-F238E27FC236}">
                <a16:creationId xmlns:a16="http://schemas.microsoft.com/office/drawing/2014/main" id="{C2D0E31B-4BA0-15AD-42CB-1000245E3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65960"/>
            <a:ext cx="4139666" cy="438912"/>
          </a:xfrm>
          <a:prstGeom prst="rect">
            <a:avLst/>
          </a:prstGeom>
        </p:spPr>
      </p:pic>
      <p:pic>
        <p:nvPicPr>
          <p:cNvPr id="8" name="Image 2" descr="/sessions/fervent-ecstatic-fermi/mnt/spacerocketlauncher/latex/eq_z.png">
            <a:extLst>
              <a:ext uri="{FF2B5EF4-FFF2-40B4-BE49-F238E27FC236}">
                <a16:creationId xmlns:a16="http://schemas.microsoft.com/office/drawing/2014/main" id="{BE7AC61E-8739-3B05-83DC-38FEFD771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468880"/>
            <a:ext cx="2673073" cy="438912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83E65C9F-E03E-6118-4A56-A68E454D21BC}"/>
              </a:ext>
            </a:extLst>
          </p:cNvPr>
          <p:cNvSpPr/>
          <p:nvPr/>
        </p:nvSpPr>
        <p:spPr>
          <a:xfrm>
            <a:off x="640080" y="3291840"/>
            <a:ext cx="124968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9E93406C-AD5C-FDCA-0509-B0261851FDE9}"/>
              </a:ext>
            </a:extLst>
          </p:cNvPr>
          <p:cNvSpPr/>
          <p:nvPr/>
        </p:nvSpPr>
        <p:spPr>
          <a:xfrm>
            <a:off x="716280" y="33284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</a:t>
            </a:r>
            <a:endParaRPr lang="en-US" sz="15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AC3778B-F0D2-7FEE-5963-9B8870B8548A}"/>
              </a:ext>
            </a:extLst>
          </p:cNvPr>
          <p:cNvSpPr/>
          <p:nvPr/>
        </p:nvSpPr>
        <p:spPr>
          <a:xfrm>
            <a:off x="716280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grav. constant</a:t>
            </a:r>
            <a:endParaRPr lang="en-US" sz="11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7631138A-A93B-0105-7E2D-E710FA8C9AA0}"/>
              </a:ext>
            </a:extLst>
          </p:cNvPr>
          <p:cNvSpPr/>
          <p:nvPr/>
        </p:nvSpPr>
        <p:spPr>
          <a:xfrm>
            <a:off x="1962912" y="3291840"/>
            <a:ext cx="124968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80E1BA65-8CB4-166D-E37D-963111C2C7EE}"/>
              </a:ext>
            </a:extLst>
          </p:cNvPr>
          <p:cNvSpPr/>
          <p:nvPr/>
        </p:nvSpPr>
        <p:spPr>
          <a:xfrm>
            <a:off x="2037937" y="33284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Mₑ, Mₘ</a:t>
            </a:r>
            <a:endParaRPr lang="en-US" sz="15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D235FD8B-4F88-B0B8-AE1E-2CD7F09E5482}"/>
              </a:ext>
            </a:extLst>
          </p:cNvPr>
          <p:cNvSpPr/>
          <p:nvPr/>
        </p:nvSpPr>
        <p:spPr>
          <a:xfrm>
            <a:off x="2037937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masses</a:t>
            </a: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C61669DE-996A-C63E-E04A-750F7EA4E005}"/>
              </a:ext>
            </a:extLst>
          </p:cNvPr>
          <p:cNvSpPr/>
          <p:nvPr/>
        </p:nvSpPr>
        <p:spPr>
          <a:xfrm>
            <a:off x="3285744" y="3291840"/>
            <a:ext cx="124968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838D998C-5E79-56B2-FE04-1508FC588089}"/>
              </a:ext>
            </a:extLst>
          </p:cNvPr>
          <p:cNvSpPr/>
          <p:nvPr/>
        </p:nvSpPr>
        <p:spPr>
          <a:xfrm>
            <a:off x="3359594" y="33284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dₑ, dₘ</a:t>
            </a:r>
            <a:endParaRPr lang="en-US" sz="15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65AEFAD7-B637-21ED-BBE9-65AEE977454C}"/>
              </a:ext>
            </a:extLst>
          </p:cNvPr>
          <p:cNvSpPr/>
          <p:nvPr/>
        </p:nvSpPr>
        <p:spPr>
          <a:xfrm>
            <a:off x="3359594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barycentre</a:t>
            </a:r>
            <a:endParaRPr lang="en-US" sz="11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58448AA-39E4-6351-2A9E-7B10FF225ACC}"/>
              </a:ext>
            </a:extLst>
          </p:cNvPr>
          <p:cNvSpPr/>
          <p:nvPr/>
        </p:nvSpPr>
        <p:spPr>
          <a:xfrm>
            <a:off x="4608576" y="3291840"/>
            <a:ext cx="124968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DD240196-DF0D-18D2-59EA-73AE83324CC8}"/>
              </a:ext>
            </a:extLst>
          </p:cNvPr>
          <p:cNvSpPr/>
          <p:nvPr/>
        </p:nvSpPr>
        <p:spPr>
          <a:xfrm>
            <a:off x="4681251" y="33284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rₑ, rₘ</a:t>
            </a:r>
            <a:endParaRPr lang="en-US" sz="15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E43AEFE2-6917-CCED-049C-25BEA0DA837F}"/>
              </a:ext>
            </a:extLst>
          </p:cNvPr>
          <p:cNvSpPr/>
          <p:nvPr/>
        </p:nvSpPr>
        <p:spPr>
          <a:xfrm>
            <a:off x="4681251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centres of mass</a:t>
            </a:r>
            <a:endParaRPr lang="en-US" sz="110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157C1D48-E043-3285-8524-1984F0F9CD95}"/>
              </a:ext>
            </a:extLst>
          </p:cNvPr>
          <p:cNvSpPr/>
          <p:nvPr/>
        </p:nvSpPr>
        <p:spPr>
          <a:xfrm>
            <a:off x="5931408" y="3291840"/>
            <a:ext cx="124968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69E34680-82A0-449C-B83F-DA2952536F4B}"/>
              </a:ext>
            </a:extLst>
          </p:cNvPr>
          <p:cNvSpPr/>
          <p:nvPr/>
        </p:nvSpPr>
        <p:spPr>
          <a:xfrm>
            <a:off x="6002908" y="33284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ω</a:t>
            </a:r>
            <a:endParaRPr lang="en-US" sz="150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4B209482-E571-868A-84C4-8902A81C751C}"/>
              </a:ext>
            </a:extLst>
          </p:cNvPr>
          <p:cNvSpPr/>
          <p:nvPr/>
        </p:nvSpPr>
        <p:spPr>
          <a:xfrm>
            <a:off x="6002908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velocity</a:t>
            </a:r>
            <a:endParaRPr lang="en-US" sz="1100" dirty="0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248A66D2-2D0E-21C3-C790-C035E2C676A1}"/>
              </a:ext>
            </a:extLst>
          </p:cNvPr>
          <p:cNvSpPr/>
          <p:nvPr/>
        </p:nvSpPr>
        <p:spPr>
          <a:xfrm>
            <a:off x="640080" y="4023360"/>
            <a:ext cx="4645152" cy="45720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557098D-EBDD-7C8C-C369-EDF368C888F1}"/>
              </a:ext>
            </a:extLst>
          </p:cNvPr>
          <p:cNvSpPr/>
          <p:nvPr/>
        </p:nvSpPr>
        <p:spPr>
          <a:xfrm>
            <a:off x="777240" y="405079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2ωẏ and −2ωẋ — the Coriolis acceleration. It depends on velocity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19464F16-538F-C8BB-BEF2-EF4B2E44E8BD}"/>
              </a:ext>
            </a:extLst>
          </p:cNvPr>
          <p:cNvSpPr/>
          <p:nvPr/>
        </p:nvSpPr>
        <p:spPr>
          <a:xfrm>
            <a:off x="5358384" y="402336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thrust model: F = const within the window [t_on, t_off]</a:t>
            </a:r>
            <a:r>
              <a:rPr lang="en-US" sz="1200" i="1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00" i="1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r>
              <a:rPr lang="ru-RU" sz="1200" i="1" dirty="0">
                <a:solidFill>
                  <a:srgbClr val="666666"/>
                </a:solidFill>
                <a:latin typeface="Calibri" pitchFamily="34" charset="0"/>
                <a:ea typeface="Cambria Math" pitchFamily="34" charset="-122"/>
                <a:cs typeface="Calibri" pitchFamily="34" charset="-120"/>
              </a:rPr>
              <a:t/>
            </a:r>
            <a:r>
              <a:rPr lang="en-US" sz="1200" i="1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00" i="1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r>
              <a:rPr lang="en-US" sz="1200" i="1" baseline="-25000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r>
              <a:rPr lang="en-US" sz="1200" i="1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endParaRPr lang="en-US" sz="1200" dirty="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0D47A120-D078-AC80-BB4F-DB20B0920C99}"/>
              </a:ext>
            </a:extLst>
          </p:cNvPr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0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1D206C7B-0635-AC9D-D228-C208D0D2E9B8}"/>
              </a:ext>
            </a:extLst>
          </p:cNvPr>
          <p:cNvSpPr/>
          <p:nvPr/>
        </p:nvSpPr>
        <p:spPr>
          <a:xfrm>
            <a:off x="7254240" y="3291840"/>
            <a:ext cx="124968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69E8646B-ABA6-D48D-9669-D19F090764A7}"/>
              </a:ext>
            </a:extLst>
          </p:cNvPr>
          <p:cNvSpPr/>
          <p:nvPr/>
        </p:nvSpPr>
        <p:spPr>
          <a:xfrm>
            <a:off x="7330440" y="33284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 = M - 𝛌t</a:t>
            </a:r>
          </a:p>
        </p:txBody>
      </p:sp>
      <p:sp>
        <p:nvSpPr>
          <p:cNvPr id="31" name="Text 18">
            <a:extLst>
              <a:ext uri="{FF2B5EF4-FFF2-40B4-BE49-F238E27FC236}">
                <a16:creationId xmlns:a16="http://schemas.microsoft.com/office/drawing/2014/main" id="{4F94A453-F180-48F8-31BF-A638502D8E66}"/>
              </a:ext>
            </a:extLst>
          </p:cNvPr>
          <p:cNvSpPr/>
          <p:nvPr/>
        </p:nvSpPr>
        <p:spPr>
          <a:xfrm>
            <a:off x="7330440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ru-RU" sz="1100" i="1" dirty="0">
                <a:solidFill>
                  <a:srgbClr val="666666"/>
                </a:solidFill>
                <a:latin typeface="Calibri" pitchFamily="34" charset="0"/>
                <a:cs typeface="Calibri" pitchFamily="34" charset="-120"/>
              </a:rPr>
              <a:t>fuel mass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65150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applicability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2496312" cy="20116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169164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orbit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Moon's orbit is treated as circular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(actual eccentricity = 0.055)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19272" y="1143000"/>
            <a:ext cx="2496312" cy="20116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47872" y="12344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47872" y="169164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Negligible spacecraft mass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47872" y="210312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spacecraft's mass is negligible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Earth and the Moon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98464" y="1143000"/>
            <a:ext cx="2496312" cy="20116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27064" y="12344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27064" y="169164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27064" y="210312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attraction of the Sun and other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bodies is not taken into account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7863840" cy="1371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3840480" cy="7315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3657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valid for qualitative study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dynamics and for educational use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3611880"/>
            <a:ext cx="3840480" cy="7315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3657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missions are designed with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ephemeris models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integrators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2496312" cy="2468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Euler method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664208"/>
            <a:ext cx="2039112" cy="1371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2039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order O(h)</a:t>
            </a:r>
            <a:r>
              <a:rPr lang="en-US" sz="1200" i="1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endParaRPr lang="en-US" sz="1200" i="1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conserve energy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117276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O(h)</a:t>
            </a:r>
            <a:endParaRPr lang="en-US" sz="2000" i="1" dirty="0"/>
          </a:p>
        </p:txBody>
      </p:sp>
      <p:sp>
        <p:nvSpPr>
          <p:cNvPr id="9" name="Shape 7"/>
          <p:cNvSpPr/>
          <p:nvPr/>
        </p:nvSpPr>
        <p:spPr>
          <a:xfrm>
            <a:off x="3319272" y="1143000"/>
            <a:ext cx="2496312" cy="2468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47872" y="123444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Verlet with explicit Coriolis handling</a:t>
            </a:r>
            <a:r>
              <a:rPr lang="ru-RU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547872" y="1664208"/>
            <a:ext cx="2039112" cy="1371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47872" y="1783080"/>
            <a:ext cx="2039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Symplectic, O(h²) in theory</a:t>
            </a:r>
            <a:r>
              <a:rPr lang="en-US" sz="1200" i="1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Coriolis spoils it</a:t>
            </a:r>
            <a:r>
              <a:rPr lang="ru-RU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 to O(h) in the CR3BP</a:t>
            </a:r>
            <a:r>
              <a:rPr lang="ru-RU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00" i="1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47872" y="3117276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1A1A1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O(h) in the CR3BP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998464" y="1143000"/>
            <a:ext cx="2496312" cy="246888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27064" y="123444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Verlet with iterative velocity correction</a:t>
            </a:r>
            <a:r>
              <a:rPr lang="ru-RU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ru-RU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27064" y="1664208"/>
            <a:ext cx="2039112" cy="13716"/>
          </a:xfrm>
          <a:prstGeom prst="rect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27064" y="1783080"/>
            <a:ext cx="2039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iterations per step refine v</a:t>
            </a:r>
            <a:r>
              <a:rPr lang="en-US" sz="1200" dirty="0">
                <a:solidFill>
                  <a:srgbClr val="CCCCC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Restores order O(h²)</a:t>
            </a:r>
            <a:r>
              <a:rPr lang="ru-RU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00" i="1" dirty="0">
                <a:solidFill>
                  <a:srgbClr val="CCCCC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endParaRPr lang="en-US" sz="1200" i="1" dirty="0"/>
          </a:p>
        </p:txBody>
      </p:sp>
      <p:sp>
        <p:nvSpPr>
          <p:cNvPr id="18" name="Text 16"/>
          <p:cNvSpPr/>
          <p:nvPr/>
        </p:nvSpPr>
        <p:spPr>
          <a:xfrm>
            <a:off x="6227064" y="3117276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O(h²)</a:t>
            </a:r>
            <a:endParaRPr lang="en-US" sz="2000" i="1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7863840" cy="548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Coriolis acceleration 2ω × v depends on velocity → Verlet with explicit Coriolis handling loses its order → iteration restores O(h²)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ru-RU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i="1" dirty="0">
                <a:solidFill>
                  <a:srgbClr val="3333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endParaRPr lang="en-US" sz="1300" i="1" dirty="0"/>
          </a:p>
        </p:txBody>
      </p:sp>
      <p:sp>
        <p:nvSpPr>
          <p:cNvPr id="22" name="Text 19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Jacobi integral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conserved quantity in the CR3BP</a:t>
            </a:r>
            <a:endParaRPr lang="en-US" sz="1500" dirty="0"/>
          </a:p>
        </p:txBody>
      </p:sp>
      <p:pic>
        <p:nvPicPr>
          <p:cNvPr id="5" name="Image 0" descr="/sessions/fervent-ecstatic-fermi/mnt/spacerocketlauncher/latex/jacobi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554480"/>
            <a:ext cx="4059936" cy="777240"/>
          </a:xfrm>
          <a:prstGeom prst="rect">
            <a:avLst/>
          </a:prstGeom>
        </p:spPr>
      </p:pic>
      <p:pic>
        <p:nvPicPr>
          <p:cNvPr id="6" name="Image 1" descr="/sessions/fervent-ecstatic-fermi/mnt/spacerocketlauncher/latex/jacobi_dr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68" y="2377440"/>
            <a:ext cx="3255264" cy="3200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2880360"/>
            <a:ext cx="187452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640080" y="2880360"/>
            <a:ext cx="1874520" cy="12801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777240" y="31272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0.001%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777240" y="35478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633472" y="2880360"/>
            <a:ext cx="187452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2633472" y="2880360"/>
            <a:ext cx="1874520" cy="128016"/>
          </a:xfrm>
          <a:prstGeom prst="rect">
            <a:avLst/>
          </a:prstGeom>
          <a:solidFill>
            <a:srgbClr val="EAB30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2770632" y="31272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0.01%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2770632" y="35478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626864" y="2880360"/>
            <a:ext cx="187452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626864" y="2880360"/>
            <a:ext cx="1874520" cy="12801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4764024" y="31272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0.1%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764024" y="35478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620256" y="2880360"/>
            <a:ext cx="187452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620256" y="2880360"/>
            <a:ext cx="1874520" cy="12801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757416" y="31272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0.1%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6757416" y="35478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aph of a number of people&#10;&#10;Description automatically generated with medium confidence">
            <a:extLst>
              <a:ext uri="{FF2B5EF4-FFF2-40B4-BE49-F238E27FC236}">
                <a16:creationId xmlns:a16="http://schemas.microsoft.com/office/drawing/2014/main" id="{CC12DE79-77D3-9728-2234-82F191D0E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18076"/>
            <a:ext cx="5190045" cy="3652583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Log-log convergence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943600" y="1371600"/>
            <a:ext cx="2743200" cy="548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08076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</a:t>
            </a:r>
            <a:endParaRPr lang="en-US" sz="1300" dirty="0"/>
          </a:p>
        </p:txBody>
      </p:sp>
      <p:pic>
        <p:nvPicPr>
          <p:cNvPr id="7" name="Image 1" descr="/sessions/fervent-ecstatic-fermi/mnt/spacerocketlauncher/latex/slope_eu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64208"/>
            <a:ext cx="1472184" cy="20116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43600" y="2011680"/>
            <a:ext cx="2743200" cy="548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6080760" y="20391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Verlet</a:t>
            </a:r>
            <a:r>
              <a:rPr lang="ru-RU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pic>
        <p:nvPicPr>
          <p:cNvPr id="10" name="Image 2" descr="/sessions/fervent-ecstatic-fermi/mnt/spacerocketlauncher/latex/slope_verlet_s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304288"/>
            <a:ext cx="1472184" cy="20116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943600" y="2651760"/>
            <a:ext cx="2743200" cy="548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6080760" y="26791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Verlet</a:t>
            </a:r>
            <a:r>
              <a:rPr lang="en-US" sz="13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ru-RU" sz="13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pic>
        <p:nvPicPr>
          <p:cNvPr id="13" name="Image 3" descr="/sessions/fervent-ecstatic-fermi/mnt/spacerocketlauncher/latex/slope_verlet_i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2944368"/>
            <a:ext cx="1472184" cy="20116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943600" y="3246120"/>
            <a:ext cx="2743200" cy="123444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9"/>
          <p:cNvSpPr/>
          <p:nvPr/>
        </p:nvSpPr>
        <p:spPr>
          <a:xfrm>
            <a:off x="6080760" y="32918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 = 30 s  |  R² = 0.999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6080760" y="3520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Euler: 8,400 m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Explicit Verlet: 1,900 m</a:t>
            </a:r>
            <a:r>
              <a:rPr lang="ru-RU" sz="120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Iterative Verlet: 0.13 m</a:t>
            </a:r>
            <a:r>
              <a:rPr lang="en-US" sz="120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r>
              <a:rPr lang="ru-RU" sz="120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r>
              <a:rPr lang="ru-RU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08076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64,600× more accurate in position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step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a body 1/r grows → a smaller step is needed</a:t>
            </a:r>
            <a:r>
              <a:rPr lang="en-US" sz="1500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r>
              <a:rPr lang="en-US" sz="1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7863840" cy="9144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sessions/fervent-ecstatic-fermi/mnt/spacerocketlauncher/latex/adaptive_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691640"/>
            <a:ext cx="2532888" cy="731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697480"/>
            <a:ext cx="2496312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278892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from the bodies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20040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dt = dt</a:t>
            </a:r>
            <a:r>
              <a:rPr lang="en-US" sz="900" baseline="-40000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max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are small, the step is at its maximum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19272" y="2697480"/>
            <a:ext cx="2496312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02152" y="278892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zone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502152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dt decreases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proportion to v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i="1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/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98464" y="2697480"/>
            <a:ext cx="2496312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181344" y="278892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a body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181344" y="320040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dt ≈ dt</a:t>
            </a:r>
            <a:r>
              <a:rPr lang="en-US" sz="900" baseline="-40000" dirty="0">
                <a:solidFill>
                  <a:srgbClr val="66666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are large, the step is at its minimum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154680" y="3017520"/>
            <a:ext cx="14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99999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833872" y="3017520"/>
            <a:ext cx="14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99999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Locating the Lagrange points: Desmos</a:t>
            </a:r>
            <a:endParaRPr lang="en-US" sz="2800" dirty="0"/>
          </a:p>
        </p:txBody>
      </p:sp>
      <p:sp>
        <p:nvSpPr>
          <p:cNvPr id="3" name="Dark bar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ubtitle"/>
          <p:cNvSpPr/>
          <p:nvPr/>
        </p:nvSpPr>
        <p:spPr>
          <a:xfrm>
            <a:off x="640080" y="1006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analysis of the total acceleration in Desmos</a:t>
            </a:r>
            <a:r>
              <a:rPr lang="en-US" sz="14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4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4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pic>
        <p:nvPicPr>
          <p:cNvPr id="5" name="Desmos Grap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3200400" cy="3200400"/>
          </a:xfrm>
          <a:prstGeom prst="rect">
            <a:avLst/>
          </a:prstGeom>
          <a:ln w="12700">
            <a:solidFill>
              <a:srgbClr val="E0E0E0"/>
            </a:solidFill>
          </a:ln>
        </p:spPr>
      </p:pic>
      <p:sp>
        <p:nvSpPr>
          <p:cNvPr id="8" name="Step 3"/>
          <p:cNvSpPr/>
          <p:nvPr/>
        </p:nvSpPr>
        <p:spPr>
          <a:xfrm>
            <a:off x="4114800" y="3108960"/>
            <a:ext cx="457200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From graph to algorithm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</a:rPr>
              <a:t>The graphical investigation led to formalising the bisection method for locating the Lagrange points automatically</a:t>
            </a:r>
            <a:r>
              <a:rPr lang="en-US" sz="1200" dirty="0" err="1">
                <a:solidFill>
                  <a:srgbClr val="CCCCCC"/>
                </a:solidFill>
                <a:latin typeface="Calibri" pitchFamily="34" charset="0"/>
              </a:rPr>
              <a:t/>
            </a:r>
            <a:r>
              <a:rPr lang="en-US" sz="1200" dirty="0">
                <a:solidFill>
                  <a:srgbClr val="CCCCCC"/>
                </a:solidFill>
                <a:latin typeface="Calibri" pitchFamily="34" charset="0"/>
              </a:rPr>
              <a:t/>
            </a:r>
            <a:r>
              <a:rPr lang="ru-RU" sz="1200" dirty="0">
                <a:solidFill>
                  <a:srgbClr val="CCCCCC"/>
                </a:solidFill>
                <a:latin typeface="Calibri" pitchFamily="34" charset="0"/>
              </a:rPr>
              <a:t/>
            </a:r>
            <a:endParaRPr lang="en-US" sz="1200" dirty="0">
              <a:solidFill>
                <a:srgbClr val="CCCCCC"/>
              </a:solidFill>
              <a:latin typeface="Calibri" pitchFamily="34" charset="0"/>
            </a:endParaRPr>
          </a:p>
        </p:txBody>
      </p:sp>
      <p:sp>
        <p:nvSpPr>
          <p:cNvPr id="10" name="Page Number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  <p:sp>
        <p:nvSpPr>
          <p:cNvPr id="11" name="Eq Background"/>
          <p:cNvSpPr/>
          <p:nvPr/>
        </p:nvSpPr>
        <p:spPr>
          <a:xfrm>
            <a:off x="4114800" y="1463040"/>
            <a:ext cx="457200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Eq Lagrange X" descr="lagrange_eq_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4800" y="1543040"/>
            <a:ext cx="3536260" cy="380000"/>
          </a:xfrm>
          <a:prstGeom prst="rect">
            <a:avLst/>
          </a:prstGeom>
        </p:spPr>
      </p:pic>
      <p:pic>
        <p:nvPicPr>
          <p:cNvPr id="13" name="Eq Lagrange Y" descr="lagrange_eq_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800" y="1983040"/>
            <a:ext cx="3536260" cy="380000"/>
          </a:xfrm>
          <a:prstGeom prst="rect">
            <a:avLst/>
          </a:prstGeom>
        </p:spPr>
      </p:pic>
      <p:pic>
        <p:nvPicPr>
          <p:cNvPr id="14" name="Eq Lagrange Z" descr="lagrange_eq_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800" y="2423040"/>
            <a:ext cx="353626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Lagrange points L1–L5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equilibrium points of the Earth–Moon system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467409"/>
              </p:ext>
            </p:extLst>
          </p:nvPr>
        </p:nvGraphicFramePr>
        <p:xfrm>
          <a:off x="640080" y="1554480"/>
          <a:ext cx="7863840" cy="2121408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x, 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y, 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Resid. accel., m/s²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323 696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10⁻¹⁸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446 531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10⁻¹⁸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−386 651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10⁻¹⁸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188 081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332 925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Newton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10⁻¹⁸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188 081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−332 925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Newton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10⁻¹⁸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657600"/>
            <a:ext cx="7863840" cy="7772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367588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Desmos graph → sign change → bisection → accuracy &lt; 10⁻¹⁸ m/s²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4041648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approximations (Hill sphere) give a relative error of 0.4–0.8% — the numerical solution is more accurate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contribution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1828800" cy="5029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51760" y="11430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of the CR3BP equations of motion in a rotating frame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1828800" cy="5029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51760" y="173736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of the Jacobi integral as an accuracy-checking tool</a:t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1828800" cy="5029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Num. methods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23317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integrators; discovering the degradation of Verlet and implementing the variant with iterative velocity correction</a:t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ru-RU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926080"/>
            <a:ext cx="1828800" cy="5029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926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51760" y="29260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of 7 computational experiments for quantitative verification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1828800" cy="5029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651760" y="35204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Locating the Lagrange points L1–L5: bisection + Newton's method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114800"/>
            <a:ext cx="1828800" cy="5029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51760" y="41148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web simulator + scripts for finding initial conditions</a:t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for development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" y="2834640"/>
            <a:ext cx="3749040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keeping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474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the spacecraft near a halo orbit</a:t>
            </a:r>
            <a:r>
              <a:rPr lang="en-US" sz="14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4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ru-RU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40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749040" cy="13258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0" y="3017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exercises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0" y="3474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assignments built on the simulator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06131CC-5F1E-7F6B-3C18-AADB9ABD4BB8}"/>
              </a:ext>
            </a:extLst>
          </p:cNvPr>
          <p:cNvGrpSpPr/>
          <p:nvPr/>
        </p:nvGrpSpPr>
        <p:grpSpPr>
          <a:xfrm>
            <a:off x="640080" y="1234440"/>
            <a:ext cx="2556000" cy="1325880"/>
            <a:chOff x="640080" y="1234440"/>
            <a:chExt cx="2556000" cy="1325880"/>
          </a:xfrm>
        </p:grpSpPr>
        <p:sp>
          <p:nvSpPr>
            <p:cNvPr id="4" name="Shape 2"/>
            <p:cNvSpPr/>
            <p:nvPr/>
          </p:nvSpPr>
          <p:spPr>
            <a:xfrm>
              <a:off x="640080" y="1234440"/>
              <a:ext cx="2556000" cy="1325880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 3"/>
            <p:cNvSpPr/>
            <p:nvPr/>
          </p:nvSpPr>
          <p:spPr>
            <a:xfrm>
              <a:off x="818357" y="1417320"/>
              <a:ext cx="2258179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 err="1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Elliptical orbit</a:t>
              </a:r>
              <a:r>
                <a:rPr lang="ru-RU" b="1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/>
              </a:r>
              <a:endParaRPr lang="en-US" sz="1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18357" y="1874520"/>
              <a:ext cx="207990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400" dirty="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Accounting for the Moon's eccentricity</a:t>
              </a:r>
              <a:r>
                <a:rPr lang="en-US" sz="1400" dirty="0" err="1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/>
              </a:r>
              <a:r>
                <a:rPr lang="en-US" sz="1400" dirty="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/>
              </a:r>
              <a:r>
                <a:rPr lang="en-US" sz="1400" dirty="0" err="1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/>
              </a:r>
              <a:endParaRPr lang="en-US" sz="14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80EECB8-7365-1C3A-8A80-3E212BE5EFCE}"/>
              </a:ext>
            </a:extLst>
          </p:cNvPr>
          <p:cNvGrpSpPr/>
          <p:nvPr/>
        </p:nvGrpSpPr>
        <p:grpSpPr>
          <a:xfrm>
            <a:off x="3312000" y="1234440"/>
            <a:ext cx="2556000" cy="1325880"/>
            <a:chOff x="3314238" y="1234440"/>
            <a:chExt cx="2556000" cy="1325880"/>
          </a:xfrm>
        </p:grpSpPr>
        <p:sp>
          <p:nvSpPr>
            <p:cNvPr id="7" name="Shape 5"/>
            <p:cNvSpPr/>
            <p:nvPr/>
          </p:nvSpPr>
          <p:spPr>
            <a:xfrm>
              <a:off x="3314238" y="1234440"/>
              <a:ext cx="2556000" cy="1325880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3492516" y="1417320"/>
              <a:ext cx="2079901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ru-RU" b="1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Solar gravity</a:t>
              </a:r>
              <a:r>
                <a:rPr lang="en-US" sz="1800" b="1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/>
              </a:r>
              <a:endParaRPr lang="en-US" sz="18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92516" y="1874520"/>
              <a:ext cx="207990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400" dirty="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Extension to the four-body problem</a:t>
              </a:r>
              <a:endParaRPr lang="en-US" sz="14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D7D2878-2B35-61D7-47C6-98F014CCA1F7}"/>
              </a:ext>
            </a:extLst>
          </p:cNvPr>
          <p:cNvGrpSpPr/>
          <p:nvPr/>
        </p:nvGrpSpPr>
        <p:grpSpPr>
          <a:xfrm>
            <a:off x="5983920" y="1234440"/>
            <a:ext cx="2520000" cy="1325880"/>
            <a:chOff x="6067464" y="1234440"/>
            <a:chExt cx="2520000" cy="1325880"/>
          </a:xfrm>
        </p:grpSpPr>
        <p:sp>
          <p:nvSpPr>
            <p:cNvPr id="18" name="Shape 5">
              <a:extLst>
                <a:ext uri="{FF2B5EF4-FFF2-40B4-BE49-F238E27FC236}">
                  <a16:creationId xmlns:a16="http://schemas.microsoft.com/office/drawing/2014/main" id="{7D4D1A62-5118-A7B5-BE82-F81C472C6B3B}"/>
                </a:ext>
              </a:extLst>
            </p:cNvPr>
            <p:cNvSpPr/>
            <p:nvPr/>
          </p:nvSpPr>
          <p:spPr>
            <a:xfrm>
              <a:off x="6067464" y="1234440"/>
              <a:ext cx="2520000" cy="1325880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6">
              <a:extLst>
                <a:ext uri="{FF2B5EF4-FFF2-40B4-BE49-F238E27FC236}">
                  <a16:creationId xmlns:a16="http://schemas.microsoft.com/office/drawing/2014/main" id="{15287521-8226-095D-1B1A-1071394345C0}"/>
                </a:ext>
              </a:extLst>
            </p:cNvPr>
            <p:cNvSpPr/>
            <p:nvPr/>
          </p:nvSpPr>
          <p:spPr>
            <a:xfrm>
              <a:off x="6245742" y="1412789"/>
              <a:ext cx="2079901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ru-RU" b="1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Radiation pressure</a:t>
              </a:r>
              <a:endParaRPr lang="en-US" sz="1800" dirty="0"/>
            </a:p>
          </p:txBody>
        </p:sp>
        <p:sp>
          <p:nvSpPr>
            <p:cNvPr id="20" name="Text 7">
              <a:extLst>
                <a:ext uri="{FF2B5EF4-FFF2-40B4-BE49-F238E27FC236}">
                  <a16:creationId xmlns:a16="http://schemas.microsoft.com/office/drawing/2014/main" id="{F04B3413-281C-9EF4-F64F-92C8F8EE9156}"/>
                </a:ext>
              </a:extLst>
            </p:cNvPr>
            <p:cNvSpPr/>
            <p:nvPr/>
          </p:nvSpPr>
          <p:spPr>
            <a:xfrm>
              <a:off x="6250031" y="1897380"/>
              <a:ext cx="207990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ru-RU" sz="1400" dirty="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Accounting for solar radiation pressure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7863840" cy="56692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161288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14300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theoretical foundations of the CR3BP were studied and the equations of motion derived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01368"/>
            <a:ext cx="7863840" cy="56692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819656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180136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integrators were implemented. Verlet with iterative velocity correction is 64,600× more accurate than Euler</a:t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ru-RU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7863840" cy="56692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478024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245973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Lagrange points L1–L5 were found numerically (resid. accel. &lt; 10⁻¹⁸)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118104"/>
            <a:ext cx="7863840" cy="56692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3136392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71600" y="311810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was verified by a series of 7 numerical experiments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776472"/>
            <a:ext cx="7863840" cy="56692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37764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educational 3D web simulator was built and published online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attention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0" y="914400"/>
            <a:ext cx="36576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sessions/fervent-ecstatic-fermi/mnt/spacerocketlauncher/qr_si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1188720"/>
            <a:ext cx="310896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MIPT  ·  Start in Science  ·  2026  ·  Alexander Klyuchnikov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560320"/>
            <a:ext cx="786384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Supplementary material for answering questions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at L1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sessions/fervent-ecstatic-fermi/mnt/spacerocketlauncher/docs/presentation_scenarios/03_cha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530352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143000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0" y="11704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Δv₀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m/s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17920" y="1856232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0" y="18836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Lyapunov exponent λ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 day⁻¹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0" y="2569464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0" y="25968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Predictability horizon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0" y="2843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days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217920" y="3282696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0" y="3310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/ time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0" y="3557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30 days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orbit at L1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sessions/fervent-ecstatic-fermi/mnt/spacerocketlauncher/docs/presentation_scenarios/01_ha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530352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143000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0" y="11704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 Az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15,000 km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17920" y="1856232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0" y="18836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 h (12.2 days)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217920" y="2569464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0" y="25968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error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0" y="2843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km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217920" y="3282696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0" y="3310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Jacobi drift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0" y="3557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 × 10⁻¹¹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return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sessions/fervent-ecstatic-fermi/mnt/spacerocketlauncher/docs/presentation_scenarios/02_free_ret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530352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143000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0" y="11704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 flyby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3,399 km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17920" y="1856232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0" y="18836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Earth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8,081 km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217920" y="2569464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0" y="25968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time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0" y="2843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 h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217920" y="3282696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0" y="3310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m/s → Δr Moon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0" y="3557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 km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transfer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sessions/fervent-ecstatic-fermi/mnt/spacerocketlauncher/docs/presentation_scenarios/04_thr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530352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143000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0" y="11704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Thrust / duration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 / 3 h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17920" y="1856232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0" y="18836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Δv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m/s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217920" y="2569464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0" y="25968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 flyby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0" y="2843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2,494 km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217920" y="3282696"/>
            <a:ext cx="2651760" cy="62179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0" y="3310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0" y="3557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kg (3.6%)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Integrator comparison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Jacobi integral drift, halo orbit at L1, dt = 30 s, T = 720 h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640080" y="1463040"/>
          <a:ext cx="7863840" cy="156362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Max. drift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Euler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 × 10⁻⁶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Verlet half-step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 × 10⁻⁶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Verlet iterated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× 10⁻¹¹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108960"/>
            <a:ext cx="3840480" cy="11887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3127248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58 000×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640080" y="3840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Jacobi drift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3108960"/>
            <a:ext cx="3840480" cy="11887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663440" y="3127248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00×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4663440" y="3840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position error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ready-made tool for laboratory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simulator is ready for classroom use — no installation, runs in the browser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182880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orbits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study: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period, closure error, Jacobi drift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182880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1554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83464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return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34640" y="24231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initial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conditions, lunar flyby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463040"/>
            <a:ext cx="182880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554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84632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and Lyapunov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Predictability horizon,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divergence of trajectories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1463040"/>
            <a:ext cx="182880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58000" y="1554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5800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Thrust optimisation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231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engine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firing window for a manoeuvre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42062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access  ·  No installation  ·  7 ready-made experiments  ·  Open source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18288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simulator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1463040" cy="1371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· Three.js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51760" y="1143000"/>
            <a:ext cx="18288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83464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34640" y="1645920"/>
            <a:ext cx="1463040" cy="1371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34640" y="17373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NumPy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(RK45 for validation)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· 7 scripts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18288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46320" y="1645920"/>
            <a:ext cx="1463040" cy="1371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7373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 Beget.com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vCPU · 1 GB RAM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NVMe SSD · 210 ₽/month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75120" y="1143000"/>
            <a:ext cx="1828800" cy="1828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1645920"/>
            <a:ext cx="1463040" cy="13716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0" y="17373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GitHub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Desmos (exploring L1–L5)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~2,500 lines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246120"/>
            <a:ext cx="7863840" cy="5029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326440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written from scratch  ·  Three.js + Python + NumPy  ·  VPS at 210 ₽/month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786384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7240" y="1161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161288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200" dirty="0">
                <a:effectLst/>
              </a:rPr>
              <a:t>V. V. Beletsky — Essays on the Motion of Celestial Bodies</a:t>
            </a:r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786384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6642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1664208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200" dirty="0" err="1">
                <a:effectLst/>
              </a:rPr>
              <a:t>G. N. Duboshin — Celestial Mechanics: Principal Problems and Methods</a:t>
            </a:r>
            <a:r>
              <a:rPr lang="ru-RU" sz="1200" dirty="0">
                <a:effectLst/>
              </a:rPr>
              <a:t/>
            </a:r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786384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16712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167128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200" dirty="0" err="1">
                <a:effectLst/>
              </a:rPr>
              <a:t>D. E. Okhotsimsky, Yu. G. Sikharulidze — Fundamentals of Space Flight Mechanics</a:t>
            </a:r>
            <a:r>
              <a:rPr lang="ru-RU" sz="1200" dirty="0">
                <a:effectLst/>
              </a:rPr>
              <a:t/>
            </a:r>
          </a:p>
        </p:txBody>
      </p:sp>
      <p:sp>
        <p:nvSpPr>
          <p:cNvPr id="13" name="Shape 11"/>
          <p:cNvSpPr/>
          <p:nvPr/>
        </p:nvSpPr>
        <p:spPr>
          <a:xfrm>
            <a:off x="640080" y="2651760"/>
            <a:ext cx="786384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7240" y="26700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2670048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200" dirty="0"/>
              <a:t>A. A. Tselousova — Numerical-Analytical Methods for Constructing Trajectories in the Three- and Four-Body Problems</a:t>
            </a:r>
            <a:r>
              <a:rPr lang="ru-RU" sz="1200" dirty="0">
                <a:effectLst/>
              </a:rPr>
              <a:t/>
            </a:r>
            <a:r>
              <a:rPr lang="ru-RU" sz="1200" b="0" i="0" u="none" strike="noStrike" dirty="0">
                <a:effectLst/>
              </a:rPr>
              <a:t/>
            </a:r>
            <a:r>
              <a:rPr lang="ru-RU" sz="1200" dirty="0">
                <a:effectLst/>
              </a:rPr>
              <a:t/>
            </a:r>
            <a:endParaRPr lang="ru-RU" sz="1200" b="0" i="0" u="none" strike="noStrike" dirty="0">
              <a:effectLst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154680"/>
            <a:ext cx="786384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17296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3172968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/>
              <a:t>Dmitri </a:t>
            </a:r>
            <a:r>
              <a:rPr lang="en-US" sz="1200" dirty="0" err="1"/>
              <a:t>Rozmanov</a:t>
            </a:r>
            <a:r>
              <a:rPr lang="en-US" sz="1200" dirty="0"/>
              <a:t>, Peter G </a:t>
            </a:r>
            <a:r>
              <a:rPr lang="en-US" sz="1200" dirty="0" err="1"/>
              <a:t>Kusalik</a:t>
            </a:r>
            <a:r>
              <a:rPr lang="en-US" sz="1200" dirty="0"/>
              <a:t> - </a:t>
            </a:r>
            <a:r>
              <a:rPr lang="ru-RU" sz="1200" dirty="0">
                <a:effectLst/>
              </a:rPr>
              <a:t>«</a:t>
            </a:r>
            <a:r>
              <a:rPr lang="en-GB" sz="1200" b="0" i="0" u="none" strike="noStrike" dirty="0">
                <a:solidFill>
                  <a:srgbClr val="111111"/>
                </a:solidFill>
                <a:effectLst/>
              </a:rPr>
              <a:t>Robust rotational-velocity-</a:t>
            </a:r>
            <a:r>
              <a:rPr lang="en-GB" sz="1200" b="0" i="0" u="none" strike="noStrike" dirty="0" err="1">
                <a:solidFill>
                  <a:srgbClr val="111111"/>
                </a:solidFill>
                <a:effectLst/>
              </a:rPr>
              <a:t>Verlet</a:t>
            </a:r>
            <a:r>
              <a:rPr lang="en-GB" sz="1200" b="0" i="0" u="none" strike="noStrike" dirty="0">
                <a:solidFill>
                  <a:srgbClr val="111111"/>
                </a:solidFill>
                <a:effectLst/>
              </a:rPr>
              <a:t> integration methods</a:t>
            </a:r>
            <a:r>
              <a:rPr lang="ru-RU" sz="1200" dirty="0">
                <a:effectLst/>
              </a:rPr>
              <a:t>»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2546604"/>
            <a:ext cx="7863840" cy="27432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65480" y="1417320"/>
            <a:ext cx="822960" cy="292608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5480" y="14173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2025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2388" y="1709928"/>
            <a:ext cx="9144" cy="694944"/>
          </a:xfrm>
          <a:prstGeom prst="rect">
            <a:avLst/>
          </a:prstGeom>
          <a:solidFill>
            <a:srgbClr val="9999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55560" y="1417320"/>
            <a:ext cx="822960" cy="292608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55560" y="14173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62468" y="1709928"/>
            <a:ext cx="9144" cy="694944"/>
          </a:xfrm>
          <a:prstGeom prst="rect">
            <a:avLst/>
          </a:prstGeom>
          <a:solidFill>
            <a:srgbClr val="9999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2151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151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976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CR3BP theory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79527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79527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9352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Python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6903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66903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6728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Three.js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4279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54279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4104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Verlet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1655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Lagrange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9031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9031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8856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step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6407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16407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6232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Trajectories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03783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3783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3608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Num. experiments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911592" y="2404872"/>
            <a:ext cx="310896" cy="310896"/>
          </a:xfrm>
          <a:prstGeom prst="ellipse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911592" y="24048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60984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" y="3749040"/>
            <a:ext cx="7863840" cy="50292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22960" y="3767328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months: from theory to publication on the web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Derivation of the equations of motion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4114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7863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>
                <a:solidFill>
                  <a:srgbClr val="666666"/>
                </a:solidFill>
                <a:latin typeface="Calibri"/>
              </a:defRPr>
            </a:pPr>
            <a:r>
              <a:t>The equations of motion expressed via the effective potential: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7863840" cy="21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q_pot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5175145" cy="438912"/>
          </a:xfrm>
          <a:prstGeom prst="rect">
            <a:avLst/>
          </a:prstGeom>
        </p:spPr>
      </p:pic>
      <p:pic>
        <p:nvPicPr>
          <p:cNvPr id="7" name="Picture 6" descr="eq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43040"/>
            <a:ext cx="2006909" cy="438912"/>
          </a:xfrm>
          <a:prstGeom prst="rect">
            <a:avLst/>
          </a:prstGeom>
        </p:spPr>
      </p:pic>
      <p:pic>
        <p:nvPicPr>
          <p:cNvPr id="8" name="Picture 7" descr="eq_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423040"/>
            <a:ext cx="2073281" cy="438912"/>
          </a:xfrm>
          <a:prstGeom prst="rect">
            <a:avLst/>
          </a:prstGeom>
        </p:spPr>
      </p:pic>
      <p:pic>
        <p:nvPicPr>
          <p:cNvPr id="9" name="Picture 8" descr="eq_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903040"/>
            <a:ext cx="887365" cy="4389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3700200"/>
            <a:ext cx="12496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6280" y="3736776"/>
            <a:ext cx="10972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1A1A"/>
                </a:solidFill>
                <a:latin typeface="Cambria Math"/>
              </a:defRPr>
            </a:pPr>
            <a:r>
              <a:t>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280" y="4047672"/>
            <a:ext cx="10972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66666"/>
                </a:solidFill>
                <a:latin typeface="Calibri"/>
              </a:defRPr>
            </a:pPr>
            <a:r>
              <a:t>eff. potential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2912" y="3700200"/>
            <a:ext cx="12496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039112" y="3736776"/>
            <a:ext cx="10972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1A1A"/>
                </a:solidFill>
                <a:latin typeface="Cambria Math"/>
              </a:defRPr>
            </a:pPr>
            <a:r>
              <a:t>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39112" y="4047672"/>
            <a:ext cx="10972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66666"/>
                </a:solidFill>
                <a:latin typeface="Calibri"/>
              </a:defRPr>
            </a:pPr>
            <a:r>
              <a:t>angular velocity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85744" y="3700200"/>
            <a:ext cx="12496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61944" y="3736776"/>
            <a:ext cx="10972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1A1A"/>
                </a:solidFill>
                <a:latin typeface="Cambria Math"/>
              </a:defRPr>
            </a:pPr>
            <a:r>
              <a:t>rₑ, rₘ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1944" y="4047672"/>
            <a:ext cx="10972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66666"/>
                </a:solidFill>
                <a:latin typeface="Calibri"/>
              </a:defRPr>
            </a:pPr>
            <a:r>
              <a:t>to the centres of mass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08576" y="3700200"/>
            <a:ext cx="12496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684776" y="3736776"/>
            <a:ext cx="10972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1A1A"/>
                </a:solidFill>
                <a:latin typeface="Cambria Math"/>
              </a:defRPr>
            </a:pPr>
            <a:r>
              <a:t>dₑ, dₘ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4776" y="4047672"/>
            <a:ext cx="10972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66666"/>
                </a:solidFill>
                <a:latin typeface="Calibri"/>
              </a:defRPr>
            </a:pPr>
            <a:r>
              <a:t>from the barycentre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31408" y="3700200"/>
            <a:ext cx="12496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07608" y="3736776"/>
            <a:ext cx="10972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1A1A"/>
                </a:solidFill>
                <a:latin typeface="Cambria Math"/>
              </a:defRPr>
            </a:pPr>
            <a:r>
              <a:t>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07608" y="4047672"/>
            <a:ext cx="10972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66666"/>
                </a:solidFill>
                <a:latin typeface="Calibri"/>
              </a:defRPr>
            </a:pPr>
            <a:r>
              <a:t>grav. constant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54240" y="3700200"/>
            <a:ext cx="12496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30440" y="3736776"/>
            <a:ext cx="10972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A1A1A"/>
                </a:solidFill>
                <a:latin typeface="Cambria Math"/>
              </a:defRPr>
            </a:pPr>
            <a:r>
              <a:t>Mₑ, Mₘ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30440" y="4047672"/>
            <a:ext cx="10972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66666"/>
                </a:solidFill>
                <a:latin typeface="Calibri"/>
              </a:defRPr>
            </a:pPr>
            <a:r>
              <a:t>body masses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431720"/>
            <a:ext cx="4645152" cy="4572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459152"/>
            <a:ext cx="429768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 Math"/>
              </a:rPr>
              <a:t>2ωẏ and −2ωẋ — the Coriolis terms; they are not part of Ω</a:t>
            </a:r>
            <a:r>
              <a:rPr sz="1300" b="1">
                <a:solidFill>
                  <a:srgbClr val="FFFFFF"/>
                </a:solidFill>
                <a:latin typeface="Calibri"/>
              </a:rPr>
              <a:t/>
            </a:r>
            <a:r>
              <a:rPr sz="1300" b="1">
                <a:solidFill>
                  <a:srgbClr val="FFFFFF"/>
                </a:solidFill>
                <a:latin typeface="Cambria Math"/>
              </a:rPr>
              <a:t/>
            </a:r>
            <a:r>
              <a:rPr sz="13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1491</Words>
  <Application>Microsoft Macintosh PowerPoint</Application>
  <PresentationFormat>On-screen Show (16:9)</PresentationFormat>
  <Paragraphs>431</Paragraphs>
  <Slides>28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Численное моделирование траекторий в КОЗТТ системы Земля-Луна</dc:title>
  <dc:subject>PptxGenJS Presentation</dc:subject>
  <dc:creator>Ключников Александр</dc:creator>
  <cp:lastModifiedBy>Vyacheslav Klyuchnikov</cp:lastModifiedBy>
  <cp:revision>17</cp:revision>
  <dcterms:created xsi:type="dcterms:W3CDTF">2026-03-19T13:12:59Z</dcterms:created>
  <dcterms:modified xsi:type="dcterms:W3CDTF">2026-03-25T18:36:46Z</dcterms:modified>
</cp:coreProperties>
</file>