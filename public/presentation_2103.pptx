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63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Меня зовут Александр Ключников. Полтора года назад я посмотрел «Аполлон-13» и задумался: а как вообще рассчитать полёт от Земли до Луны? Я нашёл формулы — уравнения задачи трёх тел. Но формулы — это символы на бумаге. Мне захотелось увидеть, как они выглядят. Запустить и посмотреть.
Я стал искать готовый симулятор — и не нашёл. Есть PhET, Desmos, Universe Sandbox — но ни один не моделирует систему Земля–Луна с точками Лагранжа, тягой и контролем точности. Тогда я решил написать его сам.
[Тон: личный, спокойный. Не «научный доклад», а рассказ. 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трёх тел — классическая задача механики. Пуанкаре доказал, что аналитического решения не существует. Но если упростить — два массивных тела по кругу, третье лёгкое — получается круговая ограниченная задача, КОЗТТ.
[~30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трёх тел — классическая задача механики. Пуанкаре доказал, что аналитического решения не существует. Вот сравнение с существующими инструментами. Видно: ни один не сочетает КОЗТТ, 3D, тягу и контроль точности. Наш симулятор — единственный.
[Быстро, 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сам симулятор. Вы можете открыть его прямо сейчас по QR-коду. 3D визуализация, три интегратора, тяга, точки Лагранжа — всё в браузере.
[Пауза 5 с — дать аудитории отсканировать QR. 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создать обучающий веб-симулятор. Шесть задач: от теории до публикации онлайн.
[Темп чуть быстрее, 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Уравнения движения — гравитация плюс две фантомные силы от вращения. Обратите внимание на член 2ω×v — это сила Кориолиса. Она зависит от скорости. Запомните это — через минуту это станет важным.
[Приём foreshadowing — создаёт интригу. 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допущения: круговая орбита Луны, малая масса аппарата, без Солнца. Модель не для реальных миссий, но для понимания динамики — вполне корректна.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I: «Эйлер врёт»
Я начал с метода Эйлера — простейший способ решить уравнения численно. И первое, что меня удивило: ошибка быстро накапливается. Аппарат, который должен лететь по замкнутой орбите, улетает в бесконечность.
Тогда я реализовал Velocity Verlet — метод второго порядка. Теоретически: уменьшаешь шаг вдвое — ошибка уменьшается в четыре раза. Гораздо лучше.
[~20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контроля точности я использую интеграл Якоби — единственную величину, которая точно сохраняется в КОЗТТ. Его дрейф — мера накопленной ошибки.
[Кратко, 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— итерированный Верле: три итерации за каждый шаг уточняют скорость. Результат — на графике. Красная линия: Эйлер, наклон 1.0, первый порядок. Оранжевая: стандартный Верле — тоже 1.0, деградировал. Зелёная: итерированный Верле — наклон 1.97, практически идеальный второй порядок.
При шаге 30 секунд: ошибка Эйлера — 8 километров. Итерированного Верле — 13 сантиметров. Разница — в 49 тысяч раз.
[ПАУЗА после «13 сантиметров». Это кульминация. ~20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вблизи Земли или Луны шаг автоматически уменьшается.
[Кратко, 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II: «Лагранж из Desmos»
Второе удивление случилось с точками Лагранжа — это пять точек, где аппарат может зависнуть неподвижно между Землёй и Луной.
Я начал с того, что построил график ускорения в Desmos и стал приближать. Зумил, зумил, зумил... И увидел: в одном месте ускорение меняет знак. Я подумал: а что если искать эту точку автоматически — делить отрезок пополам и смотреть, где знак меняется? Написал алгоритм — и он нашёл L1 с точностью до 10 в минус восемнадцатой степени.
Потом я узнал, что этот метод называется «бисекция» и ему несколько столетий. Но я пришёл к нему сам — от графика в Desmos.
[КЛЮЧЕВОЙ момент для «личного вклада» (30% оценки). Говорить с лёгкой улыбкой. ~30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код — и Python-эксперименты, и JavaScript-симулятор — написан мной с нуля. Вывод уравнений, интеграл Якоби, три интегратора, семь экспериментов, поиск точек Лагранжа, 3D-визуализация.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будущем можно учесть эксцентриситет Луны, добавить Солнце, реализовать удержание орбиты. А на базе симулятора — создать лабораторные работы.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шесть задач выполнены. Главный количественный результат: итерированный Верле точнее Эйлера в 58 тысяч раз по интегралу Якоби.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 ответить на вопросы.
[Пауза. Спокойно.]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симулятор — готовый инструмент для четырёх лабораторных работ. Гало-орбиты, свободный возврат, хаос, тяга. Работает в браузере, ничего не нужно устанавливать. Сейчас я покажу один из этих экспериментов.
[~15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Хаос у L1: разница в начальной скорости всего 1 м/с — и через две недели траектории расходятся на тысячи километров.
[~15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III: «Предательство Верле»
И вот третье — самое неожиданное — удивление. Когда я провёл серию из семи численных экспериментов и построил log-log график, я увидел, что Velocity Verlet — метод, который должен быть второго порядка — ведёт себя как первый. Наклон на графике — 1.0, а не 2.0.
Я начал разбираться: почему? Помните, я просил запомнить силу Кориолиса — 2ω на вектор скорости? Вот в чём проблема: стандартный Верле предполагает, что ускорение зависит только от положения. А Кориолис зависит от скорости. Верле подставляет приближённую скорость — и теряет порядок точности.
[«Помните?» — замыкание интриги из Акта I. ~30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Гало-орбита вокруг точки L1 — аппарат замыкает орбиту с точностью 3.6 километра за 293 часа.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Свободный возврат — облёт Луны и возврат к Земле без единой коррекции, как Аполлон-13.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Постоянная сила в 5 ньютонов превращает далёкий пролёт в подлёт к Луне на 2 500 километров.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Симулятор написан на Python + Streamlit. Эксперименты — отдельные Python-скрипты. Сайт — чистый HTML/CSS/JS. Весь код написан мной с нуля.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ключевых источников: Szebehely — классический учебник по ЗОЗТ, Richardson — гало-орбиты, Hairer — геометрическое интегрирование (Верле), Koon — динамические системы, Farquhar — первое описание гало-орбит, NASA — данные Apollo.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начат в сентябре 2025. За 7 месяцев: от теории — к 2D-прототипу на Python, потом — 3D на Three.js, потом — численные эксперименты и публикация на rocketlauncher.space.
[~10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Численное интегрирование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ограниченной задаче трёх тел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инструмента для изучения движения тела в системе Земля-Луна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35280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Ключников Александр</a:t>
            </a:r>
            <a:endParaRPr lang="en-US" sz="1600" dirty="0"/>
          </a:p>
          <a:p>
            <a:pPr marL="0" indent="0" algn="r">
              <a:spcBef>
                <a:spcPts val="600"/>
              </a:spcBef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Бабинцев В.А., доцент каф. общей физики МФТИ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35280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Старт в науку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МФТИ, 2026</a:t>
            </a:r>
            <a:endParaRPr lang="en-US" sz="1200" dirty="0"/>
          </a:p>
        </p:txBody>
      </p:sp>
      <p:pic>
        <p:nvPicPr>
          <p:cNvPr id="10" name="Roc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457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 в тему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трёх тел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задача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небесной механики.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Аналитического решения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существует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47872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массивных тела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движутся по окружности.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Третье тело — малой массы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98464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Вращающаяся система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27064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Земля и Луна неподвижны.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Появляются ускорение Кориолиса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центробежное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ограниченная задача трёх тел — базовая модель для изучения динамики в системе Земля–Луна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аналоги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 — базовая модель динамики Земля–Луна. Аналитического решения не существует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КОЗТТ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Тяга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Якоби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GMAT (NASA)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 (Ansys/AGI)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PhET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«Орбита. Челлендж»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rocketlauncher.space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696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искал готовый симулятор — и не нашёл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https://rocketlauncher.space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120640" cy="25603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fervent-ecstatic-fermi/mnt/spacerocketlauncher/screenshots/halo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170432"/>
            <a:ext cx="5065776" cy="2505456"/>
          </a:xfrm>
          <a:prstGeom prst="rect">
            <a:avLst/>
          </a:prstGeom>
        </p:spPr>
      </p:pic>
      <p:pic>
        <p:nvPicPr>
          <p:cNvPr id="6" name="Image 1" descr="/sessions/fervent-ecstatic-fermi/mnt/spacerocketlauncher/qr_sim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143000"/>
            <a:ext cx="25603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3D визуализация системы Земля–Луна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548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Три интегратора с контролем Якоби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Двигатель с настройкой окна тяги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Точки Лагранжа L1–L5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обучающего веб-симулятора траекторий в системе Земля–Луна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КОЗТТ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уравнения движения во вращающейся системе координат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расчёт траектории методом Эйлера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метод Верле, сравнить точность с Эйлером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 найти точки Лагранжа L1–L5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интерактивный 3D веб-симулятор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модель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Уравнения движения во вращающейся системе координат: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691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eq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4979836" cy="438912"/>
          </a:xfrm>
          <a:prstGeom prst="rect">
            <a:avLst/>
          </a:prstGeom>
        </p:spPr>
      </p:pic>
      <p:pic>
        <p:nvPicPr>
          <p:cNvPr id="7" name="Image 1" descr="/sessions/fervent-ecstatic-fermi/mnt/spacerocketlauncher/latex/eq_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4139666" cy="438912"/>
          </a:xfrm>
          <a:prstGeom prst="rect">
            <a:avLst/>
          </a:prstGeom>
        </p:spPr>
      </p:pic>
      <p:pic>
        <p:nvPicPr>
          <p:cNvPr id="8" name="Image 2" descr="/sessions/fervent-ecstatic-fermi/mnt/spacerocketlauncher/latex/eq_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2673073" cy="4389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731520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31520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грав. постоянная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212848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2304288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Mₑ, Mₘ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2304288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массы тел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785616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877056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dₑ, dₘ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877056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барицентра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358384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449824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rₑ, rₘ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49824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центров масс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931152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022592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022592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угл. скорость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4023360"/>
            <a:ext cx="4645152" cy="4572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77240" y="40507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 </a:t>
            </a: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−2ωẏ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ускорение Кориолиса. Зависит от скорости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358384" y="40233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модель тяги: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const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окне 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[tₒₙ, tₒff]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применимости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орбита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 Луны считается круговой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(реальный эксцентриситет = 0.055)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масса 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аппарата пренебрежимо мала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сравнению с Землёй и Луной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Солнца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учитывается притяжение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Солнца и других тел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корректна для качественного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изучения динамики и учебных целей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реальных миссий используются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эфемеридные модели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интегратора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Эйлера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Простой, порядок </a:t>
            </a: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сохраняет энергию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19272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стандартный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7872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Симплектический, </a:t>
            </a: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теор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Кориолис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2ω×v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f(x,v)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до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496312" cy="24688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итерированный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064" y="1664208"/>
            <a:ext cx="2039112" cy="1371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итерации за шаг уточняют </a:t>
            </a: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Восстанавливает порядок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Кориолисово ускорение </a:t>
            </a: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 × v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зависит от скорости → стандартный Верле теряет порядок → итерации восстанавливают </a:t>
            </a: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Интеграл Якоби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сохраняющаяся величина в КОЗТТ</a:t>
            </a:r>
            <a:endParaRPr lang="en-US" sz="1500" dirty="0"/>
          </a:p>
        </p:txBody>
      </p:sp>
      <p:pic>
        <p:nvPicPr>
          <p:cNvPr id="5" name="Image 0" descr="/sessions/fervent-ecstatic-fermi/mnt/spacerocketlauncher/latex/jacobi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554480"/>
            <a:ext cx="4059936" cy="777240"/>
          </a:xfrm>
          <a:prstGeom prst="rect">
            <a:avLst/>
          </a:prstGeom>
        </p:spPr>
      </p:pic>
      <p:pic>
        <p:nvPicPr>
          <p:cNvPr id="6" name="Image 1" descr="/sessions/fervent-ecstatic-fermi/mnt/spacerocketlauncher/latex/jacobi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377440"/>
            <a:ext cx="3255264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0080" y="2880360"/>
            <a:ext cx="1874520" cy="12801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33472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633472" y="2880360"/>
            <a:ext cx="1874520" cy="12801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7063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70632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26864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6864" y="2880360"/>
            <a:ext cx="1874520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640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64024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0256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880360"/>
            <a:ext cx="1874520" cy="1280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5741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757416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сходимость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experiments/02_integrator_comparison/log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3035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Эйлер</a:t>
            </a:r>
            <a:endParaRPr lang="en-US" sz="1300" dirty="0"/>
          </a:p>
        </p:txBody>
      </p:sp>
      <p:pic>
        <p:nvPicPr>
          <p:cNvPr id="7" name="Image 1" descr="/sessions/fervent-ecstatic-fermi/mnt/spacerocketlauncher/latex/slope_e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64208"/>
            <a:ext cx="1472184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807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стандарт.</a:t>
            </a:r>
            <a:endParaRPr lang="en-US" sz="1300" dirty="0"/>
          </a:p>
        </p:txBody>
      </p:sp>
      <p:pic>
        <p:nvPicPr>
          <p:cNvPr id="10" name="Image 2" descr="/sessions/fervent-ecstatic-fermi/mnt/spacerocketlauncher/latex/slope_verlet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04288"/>
            <a:ext cx="1472184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0807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итерир.</a:t>
            </a:r>
            <a:endParaRPr lang="en-US" sz="1300" dirty="0"/>
          </a:p>
        </p:txBody>
      </p:sp>
      <p:pic>
        <p:nvPicPr>
          <p:cNvPr id="13" name="Image 3" descr="/sessions/fervent-ecstatic-fermi/mnt/spacerocketlauncher/latex/slope_verlet_i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944368"/>
            <a:ext cx="1472184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943600" y="3246120"/>
            <a:ext cx="2743200" cy="12344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60807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30 с  |  R² = 0.999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0807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Эйлер:    8 400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ст.: 1 900 м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ит.:   0.13 м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080760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 точнее по позиции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шаг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 </a:t>
            </a:r>
            <a:r>
              <a:rPr lang="en-US" sz="15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1/r</a:t>
            </a: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растёт → нужен мелкий шаг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adaptive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91640"/>
            <a:ext cx="2532888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 от тел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=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малы, шаг максимален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02152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Переходная зона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уменьшается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пропорционально 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8464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81344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81344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≈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велики, шаг минимален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54680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3872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L1–L5: графическое решение</a:t>
            </a:r>
            <a:endParaRPr lang="en-US" sz="2800" dirty="0"/>
          </a:p>
        </p:txBody>
      </p:sp>
      <p:sp>
        <p:nvSpPr>
          <p:cNvPr id="3" name="Dark bar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640080" y="100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Графический анализ суммарного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ускорения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среде Desmos</a:t>
            </a:r>
            <a:endParaRPr lang="en-US" sz="1400" dirty="0"/>
          </a:p>
        </p:txBody>
      </p:sp>
      <p:pic>
        <p:nvPicPr>
          <p:cNvPr id="5" name="Desmos Grap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200400" cy="32004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sp>
        <p:nvSpPr>
          <p:cNvPr id="6" name="Step 1"/>
          <p:cNvSpPr/>
          <p:nvPr/>
        </p:nvSpPr>
        <p:spPr>
          <a:xfrm>
            <a:off x="4114800" y="1463040"/>
            <a:ext cx="4572000" cy="880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График ускорений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</a:rPr>
              <a:t>Построены графики гравитационного и центробежного ускорений. В точке пересечения суммарное ускорение обращается в ноль</a:t>
            </a:r>
          </a:p>
        </p:txBody>
      </p:sp>
      <p:sp>
        <p:nvSpPr>
          <p:cNvPr id="7" name="Step 2"/>
          <p:cNvSpPr/>
          <p:nvPr/>
        </p:nvSpPr>
        <p:spPr>
          <a:xfrm>
            <a:off x="4114800" y="2623240"/>
            <a:ext cx="4572000" cy="880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Последовательное приближение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</a:rPr>
              <a:t>Многократное масштабирование области пересечения для определения координат с максимальной точностью</a:t>
            </a:r>
          </a:p>
        </p:txBody>
      </p:sp>
      <p:sp>
        <p:nvSpPr>
          <p:cNvPr id="8" name="Step 3"/>
          <p:cNvSpPr/>
          <p:nvPr/>
        </p:nvSpPr>
        <p:spPr>
          <a:xfrm>
            <a:off x="4114800" y="3783440"/>
            <a:ext cx="4572000" cy="8800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От графика к алгоритму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Графическое исследование привело к формализации метода бисекции для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>автоматического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>поиска</a:t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</a:rPr>
              <a:t> точек Лагранжа</a:t>
            </a:r>
            <a:endParaRPr lang="en-US" sz="1200" dirty="0">
              <a:solidFill>
                <a:srgbClr val="CCCCCC"/>
              </a:solidFill>
              <a:latin typeface="Calibri" pitchFamily="34" charset="0"/>
            </a:endParaRPr>
          </a:p>
        </p:txBody>
      </p:sp>
      <p:sp>
        <p:nvSpPr>
          <p:cNvPr id="10" name="Page Number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L1–L5: численное решение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точек равновесия системы Земля–Луна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212140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Ост. ускор., м/с²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−386 651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6758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в Desmos → смена знака → бисекция → точность &lt; 10⁻¹⁸ м/с²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416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Аналитические приближения (сфера Хилла) дают отн. ошибку 0.4–0.8% — численное решение точнее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вклад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уравнений движения КОЗТТ во вращающейся системе координат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и реализация интеграла Якоби как инструмента проверки точности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методы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интегратора; обнаружение деградации Верле и реализация итерированного варианта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7 вычислительных экспериментов для количественной верификации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Нахождение точек Лагранжа L1–L5: бисекция + метод Ньютона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веб-симулятор + скрипты поиска начальных условий — с нуля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 развития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Эллиптическая задача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эксцентриситета Луны (e = 0.055)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Солнца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до задачи четырёх тел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орбиты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Поддержание аппарата вблизи гало-орбиты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заданий на базе симулятора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КОЗТТ, выведены уравнения движения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013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3 интегратора; итерированный Верле точнее Эйлера в 58 000×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780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4597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 найдены численно (ост. уск. &lt; 10⁻¹⁸)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1363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11810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верифицирована серией из 7 численных экспериментов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76472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764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обучающий 3D веб-симулятор, опубликован онлайн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qr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8872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 ·  Старт в науку  ·  2026  ·  Ключников Александр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 для ответов на вопросы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инструмент для лабораторных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готов к использованию в учебном процессе — без установки, в браузере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Параметрическое исследование: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период, замыкание, дрейф Якоби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начальным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условиям, облёт Луны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и Ляпунов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траекторий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тяги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окна включения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двигателя для манёвра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доступ  ·  Не требует установки  ·  7 готовых экспериментов  ·  Открытый код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у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3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м/с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Ляпунова 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сут⁻¹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суток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/ время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 сут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интеграторов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интеграла Якоби, гало-орбита L1, dt = 30 с, T = 720 ч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Макс. дрейф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Эйлер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полушаг.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итерир.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× 10⁻¹¹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58 000×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дрейфу Якоби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6344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66344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ошибке позиции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Гало-орбита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1_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Амплитуда Az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ч (12.2 дня)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Якоби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10⁻¹¹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2_free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3 399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Земле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8 081 км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полёта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ч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м/с → Δr Луна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 км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Перелёт с тягой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4_th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 / время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 / 3 ч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м/с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2 494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кг (3.6%)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3D-симулятор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Three.js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строк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(RK45 для валидации)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7 скриптов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Beget.com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· 1 GB RAM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SSD · 210 ₽/мес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(исследование L1–L5)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~2 500 строк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264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написан с нуля  ·  Three.js + Python + NumPy  ·  VPS за 210 ₽/мес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литературы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61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Szebehely V. Theory of Orbits: The Restricted Problem of Three Bodies. Academic Press, 1967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D.L. Analytic construction of periodic orbits about the collinear points. Celestial Mechanics, 22(3), 1980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671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Hairer E., Lubich C., Wanner G. Geometric Numerical Integration. Springer, 2006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700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Koon W.S. et al. Dynamical Systems, the Three-Body Problem and Space Mission Design. Marsden Books, 2011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729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R.W. The Control and Use of Libration-Point Satellites. NASA TR R-346, 1968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758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NASA. Apollo by the Numbers. NASA History Division — S-IVB TLI, free-return trajectories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проекта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2546604"/>
            <a:ext cx="7863840" cy="27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238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6246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15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15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7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КОЗТТ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952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952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935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690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690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672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Three.js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427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27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10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Лагранж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03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903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85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Адапт. шаг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40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640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23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378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378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60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эксп.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115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115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098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37673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месяцев: от теории до публикации на сайте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2775</Words>
  <Application>Microsoft Macintosh PowerPoint</Application>
  <PresentationFormat>On-screen Show (16:9)</PresentationFormat>
  <Paragraphs>457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Численное моделирование траекторий в КОЗТТ системы Земля-Луна</dc:title>
  <dc:subject>PptxGenJS Presentation</dc:subject>
  <dc:creator>Ключников Александр</dc:creator>
  <cp:lastModifiedBy>Vyacheslav Klyuchnikov</cp:lastModifiedBy>
  <cp:revision>3</cp:revision>
  <dcterms:created xsi:type="dcterms:W3CDTF">2026-03-19T13:12:59Z</dcterms:created>
  <dcterms:modified xsi:type="dcterms:W3CDTF">2026-03-21T10:56:51Z</dcterms:modified>
</cp:coreProperties>
</file>