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84" r:id="rId7"/>
    <p:sldId id="262" r:id="rId8"/>
    <p:sldId id="263" r:id="rId9"/>
    <p:sldId id="264" r:id="rId10"/>
    <p:sldId id="265" r:id="rId11"/>
    <p:sldId id="266" r:id="rId12"/>
    <p:sldId id="283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6" r:id="rId21"/>
    <p:sldId id="277" r:id="rId22"/>
    <p:sldId id="278" r:id="rId23"/>
    <p:sldId id="275" r:id="rId24"/>
    <p:sldId id="273" r:id="rId25"/>
    <p:sldId id="279" r:id="rId26"/>
    <p:sldId id="280" r:id="rId27"/>
    <p:sldId id="281" r:id="rId28"/>
    <p:sldId id="285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3"/>
    <p:restoredTop sz="90398"/>
  </p:normalViewPr>
  <p:slideViewPr>
    <p:cSldViewPr snapToGrid="0" snapToObjects="1">
      <p:cViewPr>
        <p:scale>
          <a:sx n="164" d="100"/>
          <a:sy n="164" d="100"/>
        </p:scale>
        <p:origin x="56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63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BB138-B941-4833-2604-8FD19A978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D9326-455A-9150-0A8F-B11698D01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1D25C-0493-C646-E92E-C0A4902EE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95487-ECFA-63D9-33C3-8D44EBAB6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71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73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Численное интегрирование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ограниченной задаче трёх тел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инструмента для изучения движения тела в системе Земля-Луна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0" y="35280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Ключников Александр</a:t>
            </a:r>
            <a:endParaRPr lang="en-US" sz="1600" dirty="0"/>
          </a:p>
          <a:p>
            <a:pPr marL="0" indent="0" algn="r">
              <a:spcBef>
                <a:spcPts val="600"/>
              </a:spcBef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Бабинцев В.А., доцент каф. общей физики МФТИ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1280160" y="35280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Олимпиада Старт в науку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МФТИ, 2026</a:t>
            </a:r>
            <a:endParaRPr lang="en-US" sz="1200" dirty="0"/>
          </a:p>
        </p:txBody>
      </p:sp>
      <p:pic>
        <p:nvPicPr>
          <p:cNvPr id="10" name="Roc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4572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 в тему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трёх тел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задача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небесной механики.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Аналитического решения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существует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19272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47872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КОЗТТ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47872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массивных тела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движутся по окружности.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Третье тело — малой массы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98464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27064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Вращающаяся система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27064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Земля и Луна неподвижны.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Появляются ускорение Кориолиса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центробежное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78638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Круговая ограниченная задача трёх тел — базовая модель для изучения динамики в системе Земля–Луна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аналоги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КОЗТТ — базовая модель динамики Земля–Луна. Аналитического решения не существует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315200" cy="26090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Инструмент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КОЗТТ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Тяга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Якоби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GMAT (NASA)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STK (Ansys/AGI)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Universe Sandbox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PhET Simulations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«Орбита. Челлендж»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rocketlauncher.space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60520"/>
            <a:ext cx="7315200" cy="41148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416966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искал готовый симулятор — и не нашёл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FAFBB1-2C62-ED6A-E48D-7066D871C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149" y="1061549"/>
            <a:ext cx="2651760" cy="26517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28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rocketlauncher.space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3D визуализация системы Земля–Луна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7548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Три интегратора с контролем Якоби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Двигатель с настройкой окна тяги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548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Точки Лагранжа L1–L5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pic>
        <p:nvPicPr>
          <p:cNvPr id="13" name="Picture 12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35713126-5E0C-BC1E-D9D8-648DAEADC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061549"/>
            <a:ext cx="4814789" cy="26417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612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обучающего веб-симулятора траекторий в системе Земля–Луна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теоретические основы КОЗТТ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уравнения движения во вращающейся системе координат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расчёт траектории методом Эйлера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метод Верле, сравнить точность с Эйлером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Численно найти точки Лагранжа L1–L5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интерактивный 3D веб-симулятор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28001-E700-3BA0-F29A-0EFC03F2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15F353-4A35-691D-5271-FE3316334832}"/>
              </a:ext>
            </a:extLst>
          </p:cNvPr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Математическая модель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1A565C-E760-D034-0D0C-81444F7021B1}"/>
              </a:ext>
            </a:extLst>
          </p:cNvPr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1951FF-99B4-6591-AFB2-C48FBBAFBF87}"/>
              </a:ext>
            </a:extLst>
          </p:cNvPr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Уравнения движения во вращающейся системе координат: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F7FA652-40D1-492D-58DA-FD102C732ABB}"/>
              </a:ext>
            </a:extLst>
          </p:cNvPr>
          <p:cNvSpPr/>
          <p:nvPr/>
        </p:nvSpPr>
        <p:spPr>
          <a:xfrm>
            <a:off x="640080" y="1371600"/>
            <a:ext cx="7863840" cy="1691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fervent-ecstatic-fermi/mnt/spacerocketlauncher/latex/eq_x.png">
            <a:extLst>
              <a:ext uri="{FF2B5EF4-FFF2-40B4-BE49-F238E27FC236}">
                <a16:creationId xmlns:a16="http://schemas.microsoft.com/office/drawing/2014/main" id="{C3D9850F-EFDF-E393-5375-0653C6747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4979836" cy="438912"/>
          </a:xfrm>
          <a:prstGeom prst="rect">
            <a:avLst/>
          </a:prstGeom>
        </p:spPr>
      </p:pic>
      <p:pic>
        <p:nvPicPr>
          <p:cNvPr id="7" name="Image 1" descr="/sessions/fervent-ecstatic-fermi/mnt/spacerocketlauncher/latex/eq_y.png">
            <a:extLst>
              <a:ext uri="{FF2B5EF4-FFF2-40B4-BE49-F238E27FC236}">
                <a16:creationId xmlns:a16="http://schemas.microsoft.com/office/drawing/2014/main" id="{C2D0E31B-4BA0-15AD-42CB-1000245E3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65960"/>
            <a:ext cx="4139666" cy="438912"/>
          </a:xfrm>
          <a:prstGeom prst="rect">
            <a:avLst/>
          </a:prstGeom>
        </p:spPr>
      </p:pic>
      <p:pic>
        <p:nvPicPr>
          <p:cNvPr id="8" name="Image 2" descr="/sessions/fervent-ecstatic-fermi/mnt/spacerocketlauncher/latex/eq_z.png">
            <a:extLst>
              <a:ext uri="{FF2B5EF4-FFF2-40B4-BE49-F238E27FC236}">
                <a16:creationId xmlns:a16="http://schemas.microsoft.com/office/drawing/2014/main" id="{BE7AC61E-8739-3B05-83DC-38FEFD771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68880"/>
            <a:ext cx="2673073" cy="438912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83E65C9F-E03E-6118-4A56-A68E454D21BC}"/>
              </a:ext>
            </a:extLst>
          </p:cNvPr>
          <p:cNvSpPr/>
          <p:nvPr/>
        </p:nvSpPr>
        <p:spPr>
          <a:xfrm>
            <a:off x="640080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E93406C-AD5C-FDCA-0509-B0261851FDE9}"/>
              </a:ext>
            </a:extLst>
          </p:cNvPr>
          <p:cNvSpPr/>
          <p:nvPr/>
        </p:nvSpPr>
        <p:spPr>
          <a:xfrm>
            <a:off x="716280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endParaRPr lang="en-US" sz="15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AC3778B-F0D2-7FEE-5963-9B8870B8548A}"/>
              </a:ext>
            </a:extLst>
          </p:cNvPr>
          <p:cNvSpPr/>
          <p:nvPr/>
        </p:nvSpPr>
        <p:spPr>
          <a:xfrm>
            <a:off x="716280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грав. постоянная</a:t>
            </a:r>
            <a:endParaRPr lang="en-US" sz="11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7631138A-A93B-0105-7E2D-E710FA8C9AA0}"/>
              </a:ext>
            </a:extLst>
          </p:cNvPr>
          <p:cNvSpPr/>
          <p:nvPr/>
        </p:nvSpPr>
        <p:spPr>
          <a:xfrm>
            <a:off x="1962912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80E1BA65-8CB4-166D-E37D-963111C2C7EE}"/>
              </a:ext>
            </a:extLst>
          </p:cNvPr>
          <p:cNvSpPr/>
          <p:nvPr/>
        </p:nvSpPr>
        <p:spPr>
          <a:xfrm>
            <a:off x="2037937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Mₑ, Mₘ</a:t>
            </a:r>
            <a:endParaRPr lang="en-US" sz="15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235FD8B-4F88-B0B8-AE1E-2CD7F09E5482}"/>
              </a:ext>
            </a:extLst>
          </p:cNvPr>
          <p:cNvSpPr/>
          <p:nvPr/>
        </p:nvSpPr>
        <p:spPr>
          <a:xfrm>
            <a:off x="2037937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массы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</a:t>
            </a:r>
            <a:endParaRPr lang="en-US" sz="11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C61669DE-996A-C63E-E04A-750F7EA4E005}"/>
              </a:ext>
            </a:extLst>
          </p:cNvPr>
          <p:cNvSpPr/>
          <p:nvPr/>
        </p:nvSpPr>
        <p:spPr>
          <a:xfrm>
            <a:off x="3285744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838D998C-5E79-56B2-FE04-1508FC588089}"/>
              </a:ext>
            </a:extLst>
          </p:cNvPr>
          <p:cNvSpPr/>
          <p:nvPr/>
        </p:nvSpPr>
        <p:spPr>
          <a:xfrm>
            <a:off x="3359594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dₑ, dₘ</a:t>
            </a:r>
            <a:endParaRPr lang="en-US" sz="15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5AEFAD7-B637-21ED-BBE9-65AEE977454C}"/>
              </a:ext>
            </a:extLst>
          </p:cNvPr>
          <p:cNvSpPr/>
          <p:nvPr/>
        </p:nvSpPr>
        <p:spPr>
          <a:xfrm>
            <a:off x="3359594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барицентра</a:t>
            </a:r>
            <a:endParaRPr lang="en-US" sz="1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558448AA-39E4-6351-2A9E-7B10FF225ACC}"/>
              </a:ext>
            </a:extLst>
          </p:cNvPr>
          <p:cNvSpPr/>
          <p:nvPr/>
        </p:nvSpPr>
        <p:spPr>
          <a:xfrm>
            <a:off x="4608576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DD240196-DF0D-18D2-59EA-73AE83324CC8}"/>
              </a:ext>
            </a:extLst>
          </p:cNvPr>
          <p:cNvSpPr/>
          <p:nvPr/>
        </p:nvSpPr>
        <p:spPr>
          <a:xfrm>
            <a:off x="4681251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rₑ, rₘ</a:t>
            </a:r>
            <a:endParaRPr lang="en-US" sz="15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43AEFE2-6917-CCED-049C-25BEA0DA837F}"/>
              </a:ext>
            </a:extLst>
          </p:cNvPr>
          <p:cNvSpPr/>
          <p:nvPr/>
        </p:nvSpPr>
        <p:spPr>
          <a:xfrm>
            <a:off x="4681251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центров масс</a:t>
            </a:r>
            <a:endParaRPr lang="en-US" sz="11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157C1D48-E043-3285-8524-1984F0F9CD95}"/>
              </a:ext>
            </a:extLst>
          </p:cNvPr>
          <p:cNvSpPr/>
          <p:nvPr/>
        </p:nvSpPr>
        <p:spPr>
          <a:xfrm>
            <a:off x="5931408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69E34680-82A0-449C-B83F-DA2952536F4B}"/>
              </a:ext>
            </a:extLst>
          </p:cNvPr>
          <p:cNvSpPr/>
          <p:nvPr/>
        </p:nvSpPr>
        <p:spPr>
          <a:xfrm>
            <a:off x="6002908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</a:t>
            </a:r>
            <a:endParaRPr lang="en-US" sz="15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4B209482-E571-868A-84C4-8902A81C751C}"/>
              </a:ext>
            </a:extLst>
          </p:cNvPr>
          <p:cNvSpPr/>
          <p:nvPr/>
        </p:nvSpPr>
        <p:spPr>
          <a:xfrm>
            <a:off x="6002908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угл. скорость</a:t>
            </a:r>
            <a:endParaRPr lang="en-US" sz="11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248A66D2-2D0E-21C3-C790-C035E2C676A1}"/>
              </a:ext>
            </a:extLst>
          </p:cNvPr>
          <p:cNvSpPr/>
          <p:nvPr/>
        </p:nvSpPr>
        <p:spPr>
          <a:xfrm>
            <a:off x="640080" y="4023360"/>
            <a:ext cx="4645152" cy="45720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557098D-EBDD-7C8C-C369-EDF368C888F1}"/>
              </a:ext>
            </a:extLst>
          </p:cNvPr>
          <p:cNvSpPr/>
          <p:nvPr/>
        </p:nvSpPr>
        <p:spPr>
          <a:xfrm>
            <a:off x="777240" y="405079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2ωẏ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и  </a:t>
            </a: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−2ωẋ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ускорение</a:t>
            </a: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 силы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Кориолиса. Зависит от скорости</a:t>
            </a:r>
            <a:endParaRPr lang="en-US" sz="13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19464F16-538F-C8BB-BEF2-EF4B2E44E8BD}"/>
              </a:ext>
            </a:extLst>
          </p:cNvPr>
          <p:cNvSpPr/>
          <p:nvPr/>
        </p:nvSpPr>
        <p:spPr>
          <a:xfrm>
            <a:off x="5358384" y="402336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модель </a:t>
            </a:r>
            <a:r>
              <a:rPr lang="en-US" sz="1200" i="1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тяги</a:t>
            </a: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= const</a:t>
            </a:r>
            <a:r>
              <a:rPr lang="ru-RU" sz="1200" i="1" dirty="0">
                <a:solidFill>
                  <a:srgbClr val="666666"/>
                </a:solidFill>
                <a:latin typeface="Calibri" pitchFamily="34" charset="0"/>
                <a:ea typeface="Cambria Math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окне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[tₒₙ, t</a:t>
            </a:r>
            <a:r>
              <a:rPr lang="en-US" sz="1200" i="1" baseline="-25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off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]</a:t>
            </a:r>
            <a:endParaRPr lang="en-US" sz="12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0D47A120-D078-AC80-BB4F-DB20B0920C99}"/>
              </a:ext>
            </a:extLst>
          </p:cNvPr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1D206C7B-0635-AC9D-D228-C208D0D2E9B8}"/>
              </a:ext>
            </a:extLst>
          </p:cNvPr>
          <p:cNvSpPr/>
          <p:nvPr/>
        </p:nvSpPr>
        <p:spPr>
          <a:xfrm>
            <a:off x="7254240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69E8646B-ABA6-D48D-9669-D19F090764A7}"/>
              </a:ext>
            </a:extLst>
          </p:cNvPr>
          <p:cNvSpPr/>
          <p:nvPr/>
        </p:nvSpPr>
        <p:spPr>
          <a:xfrm>
            <a:off x="7330440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 = M - 𝛌t</a:t>
            </a:r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4F94A453-F180-48F8-31BF-A638502D8E66}"/>
              </a:ext>
            </a:extLst>
          </p:cNvPr>
          <p:cNvSpPr/>
          <p:nvPr/>
        </p:nvSpPr>
        <p:spPr>
          <a:xfrm>
            <a:off x="7330440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100" i="1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масса топлива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65150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применимости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Круговая орбита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Орбита Луны считается круговой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(реальный эксцентриситет = 0.055)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47872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47872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Малая масса 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Масса аппарата пренебрежимо мала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сравнению с Землёй и Луной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98464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7064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27064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Солнца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27064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учитывается притяжение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Солнца и других тел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78638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корректна для качественного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изучения динамики и учебных целей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реальных миссий используются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полные эфемеридные модели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интегратора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Эйлера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Простой, порядок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O(h)</a:t>
            </a:r>
            <a:endParaRPr lang="en-US" sz="1200" i="1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сохраняет энергию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O(h)</a:t>
            </a:r>
            <a:endParaRPr lang="en-US" sz="2000" i="1" dirty="0"/>
          </a:p>
        </p:txBody>
      </p:sp>
      <p:sp>
        <p:nvSpPr>
          <p:cNvPr id="9" name="Shape 7"/>
          <p:cNvSpPr/>
          <p:nvPr/>
        </p:nvSpPr>
        <p:spPr>
          <a:xfrm>
            <a:off x="3319272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47872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</a:t>
            </a:r>
            <a:r>
              <a:rPr lang="ru-RU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явной обработкой Кор. члена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47872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47872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Симплектический,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O(h²)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теор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Кориолис</a:t>
            </a:r>
            <a:r>
              <a:rPr lang="ru-RU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все портит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Деградация до</a:t>
            </a:r>
            <a:r>
              <a:rPr lang="ru-RU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O(h)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КОЗТТ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7872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O(h)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КОЗТТ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98464" y="1143000"/>
            <a:ext cx="2496312" cy="246888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27064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</a:t>
            </a: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итеративной коррекцией скорости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7064" y="1664208"/>
            <a:ext cx="2039112" cy="13716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27064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итерации за шаг уточняют </a:t>
            </a:r>
            <a:r>
              <a:rPr lang="en-US" sz="1200" dirty="0">
                <a:solidFill>
                  <a:srgbClr val="CCCCC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Восстанавливает порядок</a:t>
            </a:r>
            <a:r>
              <a:rPr lang="ru-RU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>
                <a:solidFill>
                  <a:srgbClr val="CCCCC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O(h²)</a:t>
            </a:r>
            <a:endParaRPr lang="en-US" sz="1200" i="1" dirty="0"/>
          </a:p>
        </p:txBody>
      </p:sp>
      <p:sp>
        <p:nvSpPr>
          <p:cNvPr id="18" name="Text 16"/>
          <p:cNvSpPr/>
          <p:nvPr/>
        </p:nvSpPr>
        <p:spPr>
          <a:xfrm>
            <a:off x="6227064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O(h²)</a:t>
            </a:r>
            <a:endParaRPr lang="en-US" sz="2000" i="1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Кориолисово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ускорение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 × v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зависит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скорости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ru-RU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с явной обработкой Кориолисова члена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теряет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порядок →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итерации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восстанавливают </a:t>
            </a: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(h²)</a:t>
            </a:r>
            <a:endParaRPr lang="en-US" sz="1300" i="1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Интеграл Якоби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сохраняющаяся величина в КОЗТТ</a:t>
            </a:r>
            <a:endParaRPr lang="en-US" sz="1500" dirty="0"/>
          </a:p>
        </p:txBody>
      </p:sp>
      <p:pic>
        <p:nvPicPr>
          <p:cNvPr id="5" name="Image 0" descr="/sessions/fervent-ecstatic-fermi/mnt/spacerocketlauncher/latex/jacobi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554480"/>
            <a:ext cx="4059936" cy="777240"/>
          </a:xfrm>
          <a:prstGeom prst="rect">
            <a:avLst/>
          </a:prstGeom>
        </p:spPr>
      </p:pic>
      <p:pic>
        <p:nvPicPr>
          <p:cNvPr id="6" name="Image 1" descr="/sessions/fervent-ecstatic-fermi/mnt/spacerocketlauncher/latex/jacobi_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2377440"/>
            <a:ext cx="3255264" cy="320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0080" y="2880360"/>
            <a:ext cx="1874520" cy="12801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77240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0.001%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24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Отлично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633472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633472" y="2880360"/>
            <a:ext cx="1874520" cy="128016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770632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0.01%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770632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626864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26864" y="2880360"/>
            <a:ext cx="1874520" cy="12801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764024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764024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Допустимо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620256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620256" y="2880360"/>
            <a:ext cx="1874520" cy="12801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757416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0.1%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757416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Плохо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graph of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CC12DE79-77D3-9728-2234-82F191D0E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8076"/>
            <a:ext cx="5190045" cy="365258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Log-log сходимость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943600" y="137160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80760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Эйлер</a:t>
            </a:r>
            <a:endParaRPr lang="en-US" sz="1300" dirty="0"/>
          </a:p>
        </p:txBody>
      </p:sp>
      <p:pic>
        <p:nvPicPr>
          <p:cNvPr id="7" name="Image 1" descr="/sessions/fervent-ecstatic-fermi/mnt/spacerocketlauncher/latex/slope_eu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64208"/>
            <a:ext cx="1472184" cy="2011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08076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</a:t>
            </a:r>
            <a:r>
              <a:rPr lang="ru-RU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явный</a:t>
            </a:r>
            <a:endParaRPr lang="en-US" sz="1300" dirty="0"/>
          </a:p>
        </p:txBody>
      </p:sp>
      <p:pic>
        <p:nvPicPr>
          <p:cNvPr id="10" name="Image 2" descr="/sessions/fervent-ecstatic-fermi/mnt/spacerocketlauncher/latex/slope_verlet_s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304288"/>
            <a:ext cx="1472184" cy="2011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943600" y="265176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6080760" y="2679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</a:t>
            </a:r>
            <a:r>
              <a:rPr lang="en-US" sz="13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</a:t>
            </a:r>
            <a:r>
              <a:rPr lang="ru-RU" sz="13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ративный</a:t>
            </a:r>
            <a:endParaRPr lang="en-US" sz="1300" dirty="0"/>
          </a:p>
        </p:txBody>
      </p:sp>
      <p:pic>
        <p:nvPicPr>
          <p:cNvPr id="13" name="Image 3" descr="/sessions/fervent-ecstatic-fermi/mnt/spacerocketlauncher/latex/slope_verlet_i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2944368"/>
            <a:ext cx="1472184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943600" y="3246120"/>
            <a:ext cx="2743200" cy="123444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608076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= 30 с  |  R² = 0.999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08076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Эйлер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8 400 м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Верле </a:t>
            </a:r>
            <a:r>
              <a:rPr lang="ru-RU" sz="12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явн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.: 1 900 м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Верле </a:t>
            </a:r>
            <a:r>
              <a:rPr lang="en-US" sz="12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ит</a:t>
            </a:r>
            <a:r>
              <a:rPr lang="ru-RU" sz="12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рат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.:</a:t>
            </a:r>
            <a:r>
              <a:rPr lang="ru-RU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0.13 м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08076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64 6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00× точнее по позиции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шаг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 тел </a:t>
            </a:r>
            <a:r>
              <a:rPr lang="en-US" sz="15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1/r</a:t>
            </a: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растёт → нужен мелкий шаг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86384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fervent-ecstatic-fermi/mnt/spacerocketlauncher/latex/adaptive_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691640"/>
            <a:ext cx="2532888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Далеко от тел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= dt</a:t>
            </a:r>
            <a:r>
              <a:rPr lang="en-US" sz="900" baseline="-40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малы, шаг максимален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19272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02152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Переходная зона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02152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уменьшается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пропорционально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98464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81344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 тела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181344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≈ dt</a:t>
            </a:r>
            <a:r>
              <a:rPr lang="en-US" sz="900" baseline="-40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велики, шаг минимален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154680" y="301752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33872" y="301752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точек Лагранжа: Desmos</a:t>
            </a:r>
            <a:endParaRPr lang="en-US" sz="2800" dirty="0"/>
          </a:p>
        </p:txBody>
      </p:sp>
      <p:sp>
        <p:nvSpPr>
          <p:cNvPr id="3" name="Dark bar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/>
          <p:nvPr/>
        </p:nvSpPr>
        <p:spPr>
          <a:xfrm>
            <a:off x="640080" y="1006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Графический анализ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суммарного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ускорения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Desmos</a:t>
            </a:r>
            <a:endParaRPr lang="en-US" sz="1400" dirty="0"/>
          </a:p>
        </p:txBody>
      </p:sp>
      <p:pic>
        <p:nvPicPr>
          <p:cNvPr id="5" name="Desmos Grap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3200400" cy="3200400"/>
          </a:xfrm>
          <a:prstGeom prst="rect">
            <a:avLst/>
          </a:prstGeom>
          <a:ln w="12700">
            <a:solidFill>
              <a:srgbClr val="E0E0E0"/>
            </a:solidFill>
          </a:ln>
        </p:spPr>
      </p:pic>
      <p:sp>
        <p:nvSpPr>
          <p:cNvPr id="8" name="Step 3"/>
          <p:cNvSpPr/>
          <p:nvPr/>
        </p:nvSpPr>
        <p:spPr>
          <a:xfrm>
            <a:off x="4114800" y="3108960"/>
            <a:ext cx="4572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От графика к алгоритму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Графическое исследование привело к формализации метода бисекции для автоматического </a:t>
            </a:r>
            <a:r>
              <a:rPr lang="en-US" sz="1200" dirty="0" err="1">
                <a:solidFill>
                  <a:srgbClr val="CCCCCC"/>
                </a:solidFill>
                <a:latin typeface="Calibri" pitchFamily="34" charset="0"/>
              </a:rPr>
              <a:t>поиска</a:t>
            </a: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 </a:t>
            </a:r>
            <a:r>
              <a:rPr lang="ru-RU" sz="1200" dirty="0">
                <a:solidFill>
                  <a:srgbClr val="CCCCCC"/>
                </a:solidFill>
                <a:latin typeface="Calibri" pitchFamily="34" charset="0"/>
              </a:rPr>
              <a:t>точек Лагранжа</a:t>
            </a:r>
            <a:endParaRPr lang="en-US" sz="1200" dirty="0">
              <a:solidFill>
                <a:srgbClr val="CCCCCC"/>
              </a:solidFill>
              <a:latin typeface="Calibri" pitchFamily="34" charset="0"/>
            </a:endParaRPr>
          </a:p>
        </p:txBody>
      </p:sp>
      <p:sp>
        <p:nvSpPr>
          <p:cNvPr id="10" name="Page Number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11" name="Eq Background"/>
          <p:cNvSpPr/>
          <p:nvPr/>
        </p:nvSpPr>
        <p:spPr>
          <a:xfrm>
            <a:off x="4114800" y="1463040"/>
            <a:ext cx="457200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Eq Lagrange X" descr="lagrange_eq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800" y="1543040"/>
            <a:ext cx="3536260" cy="380000"/>
          </a:xfrm>
          <a:prstGeom prst="rect">
            <a:avLst/>
          </a:prstGeom>
        </p:spPr>
      </p:pic>
      <p:pic>
        <p:nvPicPr>
          <p:cNvPr id="13" name="Eq Lagrange Y" descr="lagrange_eq_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800" y="1983040"/>
            <a:ext cx="3536260" cy="380000"/>
          </a:xfrm>
          <a:prstGeom prst="rect">
            <a:avLst/>
          </a:prstGeom>
        </p:spPr>
      </p:pic>
      <p:pic>
        <p:nvPicPr>
          <p:cNvPr id="14" name="Eq Lagrange Z" descr="lagrange_eq_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800" y="2423040"/>
            <a:ext cx="3536260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точек равновесия системы Земля–Луна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67409"/>
              </p:ext>
            </p:extLst>
          </p:nvPr>
        </p:nvGraphicFramePr>
        <p:xfrm>
          <a:off x="640080" y="1554480"/>
          <a:ext cx="7863840" cy="212140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y, 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Ост. ускор., м/с²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323 696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446 531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−386 651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Ньютон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Ньютон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367588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в Desmos → смена знака → бисекция → точность &lt; 10⁻¹⁸ м/с²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0416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Аналитические приближения (сфера Хилла) дают отн. ошибку 0.4–0.8% — численное решение точнее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вклад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143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уравнений движения КОЗТТ во вращающейся системе координат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еализация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интеграла Якоби как инструмента проверки точности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Числ. методы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3317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интегратора; обнаружение деградации Верле и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варианта</a:t>
            </a:r>
            <a:r>
              <a:rPr lang="ru-RU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итеративной коррекцией скорости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926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Серия из 7 вычислительных экспериментов для количественной верификации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520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Нахождение точек Лагранжа L1–L5: бисекция + метод Ньютона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1148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веб-симулятор + скрипты поиска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начальных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условий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Пути развития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 орбиты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Поддержание аппарата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</a:t>
            </a:r>
            <a:r>
              <a:rPr lang="ru-RU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орбиты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Лабораторные работы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заданий на базе симулятора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06131CC-5F1E-7F6B-3C18-AADB9ABD4BB8}"/>
              </a:ext>
            </a:extLst>
          </p:cNvPr>
          <p:cNvGrpSpPr/>
          <p:nvPr/>
        </p:nvGrpSpPr>
        <p:grpSpPr>
          <a:xfrm>
            <a:off x="640080" y="1234440"/>
            <a:ext cx="2556000" cy="1325880"/>
            <a:chOff x="640080" y="1234440"/>
            <a:chExt cx="2556000" cy="1325880"/>
          </a:xfrm>
        </p:grpSpPr>
        <p:sp>
          <p:nvSpPr>
            <p:cNvPr id="4" name="Shape 2"/>
            <p:cNvSpPr/>
            <p:nvPr/>
          </p:nvSpPr>
          <p:spPr>
            <a:xfrm>
              <a:off x="640080" y="1234440"/>
              <a:ext cx="2556000" cy="1325880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818357" y="1417320"/>
              <a:ext cx="2258179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Эллиптическая</a:t>
              </a:r>
              <a:r>
                <a:rPr lang="ru-RU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орбита</a:t>
              </a:r>
              <a:endParaRPr lang="en-US" sz="1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18357" y="1874520"/>
              <a:ext cx="207990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Учёт </a:t>
              </a:r>
              <a:r>
                <a:rPr lang="en-US" sz="1400" dirty="0" err="1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эксцентриситета</a:t>
              </a:r>
              <a:r>
                <a:rPr lang="en-US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Луны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80EECB8-7365-1C3A-8A80-3E212BE5EFCE}"/>
              </a:ext>
            </a:extLst>
          </p:cNvPr>
          <p:cNvGrpSpPr/>
          <p:nvPr/>
        </p:nvGrpSpPr>
        <p:grpSpPr>
          <a:xfrm>
            <a:off x="3312000" y="1234440"/>
            <a:ext cx="2556000" cy="1325880"/>
            <a:chOff x="3314238" y="1234440"/>
            <a:chExt cx="2556000" cy="1325880"/>
          </a:xfrm>
        </p:grpSpPr>
        <p:sp>
          <p:nvSpPr>
            <p:cNvPr id="7" name="Shape 5"/>
            <p:cNvSpPr/>
            <p:nvPr/>
          </p:nvSpPr>
          <p:spPr>
            <a:xfrm>
              <a:off x="3314238" y="1234440"/>
              <a:ext cx="2556000" cy="1325880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3492516" y="1417320"/>
              <a:ext cx="2079901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Гравитация</a:t>
              </a:r>
              <a:r>
                <a:rPr lang="en-US" sz="18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Солнца</a:t>
              </a:r>
              <a:endParaRPr lang="en-US" sz="1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92516" y="1874520"/>
              <a:ext cx="207990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Расширение до задачи четырёх тел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D7D2878-2B35-61D7-47C6-98F014CCA1F7}"/>
              </a:ext>
            </a:extLst>
          </p:cNvPr>
          <p:cNvGrpSpPr/>
          <p:nvPr/>
        </p:nvGrpSpPr>
        <p:grpSpPr>
          <a:xfrm>
            <a:off x="5983920" y="1234440"/>
            <a:ext cx="2520000" cy="1325880"/>
            <a:chOff x="6067464" y="1234440"/>
            <a:chExt cx="2520000" cy="1325880"/>
          </a:xfrm>
        </p:grpSpPr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7D4D1A62-5118-A7B5-BE82-F81C472C6B3B}"/>
                </a:ext>
              </a:extLst>
            </p:cNvPr>
            <p:cNvSpPr/>
            <p:nvPr/>
          </p:nvSpPr>
          <p:spPr>
            <a:xfrm>
              <a:off x="6067464" y="1234440"/>
              <a:ext cx="2520000" cy="1325880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15287521-8226-095D-1B1A-1071394345C0}"/>
                </a:ext>
              </a:extLst>
            </p:cNvPr>
            <p:cNvSpPr/>
            <p:nvPr/>
          </p:nvSpPr>
          <p:spPr>
            <a:xfrm>
              <a:off x="6245742" y="1412789"/>
              <a:ext cx="2079901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Давление света</a:t>
              </a:r>
              <a:endParaRPr lang="en-US" sz="1800" dirty="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F04B3413-281C-9EF4-F64F-92C8F8EE9156}"/>
                </a:ext>
              </a:extLst>
            </p:cNvPr>
            <p:cNvSpPr/>
            <p:nvPr/>
          </p:nvSpPr>
          <p:spPr>
            <a:xfrm>
              <a:off x="6250031" y="1897380"/>
              <a:ext cx="207990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ru-RU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Учет давления света от Солнца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6128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Изучены теоретические основы КОЗТТ, выведены уравнения движения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01368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81965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80136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3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интегратора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Верле</a:t>
            </a:r>
            <a:r>
              <a:rPr lang="ru-RU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итеративной коррекцией скорости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точнее Эйлера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64 600×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59736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47802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45973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 найдены численно (ост. уск. &lt; 10⁻¹⁸)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18104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13639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11810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верифицирована серией из 7 численных экспериментов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76472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7764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 обучающий 3D веб-симулятор, опубликован онлайн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0" y="914400"/>
            <a:ext cx="36576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qr_sim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188720"/>
            <a:ext cx="310896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  ·  Старт в науку  ·  2026  ·  Ключников Александр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материалы для ответов на вопросы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у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3_cha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м/с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Ляпунова λ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 сут⁻¹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предсказуемости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суток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Направлений / время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 сут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Гало-орбита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1_ha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Амплитуда Az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км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ч (12.2 дня)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Замыкание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км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Якоби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× 10⁻¹¹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возврат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2_free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Пролёт Луны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3 399 км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к Земле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8 081 км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полёта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ч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м/с → Δr Луна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 км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Перелёт с тягой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4_th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Тяга / время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Н / 3 ч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м/с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Пролёт Луны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2 494 км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Топливо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кг (3.6%)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интеграторов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интеграла Якоби, гало-орбита L1, dt = 30 с, T = 720 ч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640080" y="1463040"/>
          <a:ext cx="7863840" cy="156362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Интегратор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Макс. дрейф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Эйлер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× 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Верле полушаг.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× 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Верле итерир.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× 10⁻¹¹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108960"/>
            <a:ext cx="3840480" cy="11887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1272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58 000×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дрейфу Якоби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3108960"/>
            <a:ext cx="3840480" cy="11887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663440" y="31272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00×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466344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ошибке позиции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инструмент для лабораторных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готов к использованию в учебном процессе — без установки, в браузере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Гало-орбиты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Параметрическое исследование: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период, замыкание, дрейф Якоби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346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возврат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Чувствительность к начальным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условиям, облёт Луны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и Ляпунов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предсказуемости,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траекторий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тяги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окна включения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двигателя для манёвра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Браузерный доступ  ·  Не требует установки  ·  7 готовых экспериментов  ·  Открытый код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стек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3D-симулятор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Three.js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~1 500 строк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NumPy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(RK45 для валидации)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7 скриптов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Beget.com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vCPU · 1 GB RAM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SSD · 210 ₽/мес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(исследование L1–L5)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~2 500 строк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2644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код написан с нуля  ·  Three.js + Python + NumPy  ·  VPS за 210 ₽/мес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литературы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1612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1612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Szebehely V. Theory of Orbits: The Restricted Problem of Three Bodies. Academic Press, 1967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6642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Richardson D.L. Analytic construction of periodic orbits about the collinear points. Celestial Mechanics, 22(3), 1980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16712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16712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Hairer E., Lubich C., Wanner G. Geometric Numerical Integration. Springer, 2006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6700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67004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Koon W.S. et al. Dynamical Systems, the Three-Body Problem and Space Mission Design. Marsden Books, 2011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17296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17296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Farquhar R.W. The Control and Use of Libration-Point Satellites. NASA TR R-346, 1968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6758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6758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NASA. Apollo by the Numbers. NASA History Division — S-IVB TLI, free-return trajectories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Эволюция проекта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2546604"/>
            <a:ext cx="7863840" cy="274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5480" y="1417320"/>
            <a:ext cx="822960" cy="29260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548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2388" y="1709928"/>
            <a:ext cx="9144" cy="69494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55560" y="1417320"/>
            <a:ext cx="822960" cy="29260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5556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62468" y="1709928"/>
            <a:ext cx="9144" cy="69494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215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215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97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КОЗТТ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952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952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935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690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690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672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Three.js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427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427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10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1655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1655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Лагранж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903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903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85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Адапт. шаг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40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640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623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Траектории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378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378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360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Числ. эксп.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115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9115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098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374904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2960" y="37673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месяцев: от теории до публикации на сайте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Вывод</a:t>
            </a:r>
            <a:r>
              <a:rPr dirty="0"/>
              <a:t> </a:t>
            </a:r>
            <a:r>
              <a:rPr dirty="0" err="1"/>
              <a:t>уравнений</a:t>
            </a:r>
            <a:r>
              <a:rPr dirty="0"/>
              <a:t> </a:t>
            </a:r>
            <a:r>
              <a:rPr dirty="0" err="1"/>
              <a:t>движения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>
                <a:solidFill>
                  <a:srgbClr val="666666"/>
                </a:solidFill>
                <a:latin typeface="Calibri"/>
              </a:defRPr>
            </a:pPr>
            <a:r>
              <a:t>Система уравнений движения через эффективный потенциал: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863840" cy="21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q_poten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175145" cy="438912"/>
          </a:xfrm>
          <a:prstGeom prst="rect">
            <a:avLst/>
          </a:prstGeom>
        </p:spPr>
      </p:pic>
      <p:pic>
        <p:nvPicPr>
          <p:cNvPr id="7" name="Picture 6" descr="eq_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43040"/>
            <a:ext cx="2006909" cy="438912"/>
          </a:xfrm>
          <a:prstGeom prst="rect">
            <a:avLst/>
          </a:prstGeom>
        </p:spPr>
      </p:pic>
      <p:pic>
        <p:nvPicPr>
          <p:cNvPr id="8" name="Picture 7" descr="eq_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23040"/>
            <a:ext cx="2073281" cy="438912"/>
          </a:xfrm>
          <a:prstGeom prst="rect">
            <a:avLst/>
          </a:prstGeom>
        </p:spPr>
      </p:pic>
      <p:pic>
        <p:nvPicPr>
          <p:cNvPr id="9" name="Picture 8" descr="eq_z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903040"/>
            <a:ext cx="887365" cy="4389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3700200"/>
            <a:ext cx="12496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6280" y="3736776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mbria Math"/>
              </a:defRPr>
            </a:pPr>
            <a:r>
              <a:t>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280" y="4047672"/>
            <a:ext cx="10972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эфф. потенциал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2912" y="3700200"/>
            <a:ext cx="12496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39112" y="3736776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mbria Math"/>
              </a:defRPr>
            </a:pPr>
            <a:r>
              <a:t>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39112" y="4047672"/>
            <a:ext cx="10972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угл. скорость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5744" y="3700200"/>
            <a:ext cx="12496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61944" y="3736776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mbria Math"/>
              </a:defRPr>
            </a:pPr>
            <a:r>
              <a:t>rₑ, rₘ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1944" y="4047672"/>
            <a:ext cx="10972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до центров масс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08576" y="3700200"/>
            <a:ext cx="12496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84776" y="3736776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mbria Math"/>
              </a:defRPr>
            </a:pPr>
            <a:r>
              <a:t>dₑ, dₘ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4776" y="4047672"/>
            <a:ext cx="10972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от барицентра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31408" y="3700200"/>
            <a:ext cx="12496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07608" y="3736776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mbria Math"/>
              </a:defRPr>
            </a:pPr>
            <a:r>
              <a:t>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07608" y="4047672"/>
            <a:ext cx="10972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грав. постоянная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54240" y="3700200"/>
            <a:ext cx="12496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30440" y="3736776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mbria Math"/>
              </a:defRPr>
            </a:pPr>
            <a:r>
              <a:t>Mₑ, Mₘ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0440" y="4047672"/>
            <a:ext cx="10972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массы тел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431720"/>
            <a:ext cx="4645152" cy="457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4459152"/>
            <a:ext cx="4297680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 Math"/>
              </a:rPr>
              <a:t>2ωẏ</a:t>
            </a:r>
            <a:r>
              <a:rPr sz="1300" b="1">
                <a:solidFill>
                  <a:srgbClr val="FFFFFF"/>
                </a:solidFill>
                <a:latin typeface="Calibri"/>
              </a:rPr>
              <a:t>  и  </a:t>
            </a:r>
            <a:r>
              <a:rPr sz="1300" b="1">
                <a:solidFill>
                  <a:srgbClr val="FFFFFF"/>
                </a:solidFill>
                <a:latin typeface="Cambria Math"/>
              </a:rPr>
              <a:t>−2ωẋ</a:t>
            </a:r>
            <a:r>
              <a:rPr sz="1300" b="1">
                <a:solidFill>
                  <a:srgbClr val="FFFFFF"/>
                </a:solidFill>
                <a:latin typeface="Calibri"/>
              </a:rPr>
              <a:t>  — члены Кориолиса, не входят в 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1531</Words>
  <Application>Microsoft Macintosh PowerPoint</Application>
  <PresentationFormat>On-screen Show (16:9)</PresentationFormat>
  <Paragraphs>433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Численное моделирование траекторий в КОЗТТ системы Земля-Луна</dc:title>
  <dc:subject>PptxGenJS Presentation</dc:subject>
  <dc:creator>Ключников Александр</dc:creator>
  <cp:lastModifiedBy>Vyacheslav Klyuchnikov</cp:lastModifiedBy>
  <cp:revision>16</cp:revision>
  <dcterms:created xsi:type="dcterms:W3CDTF">2026-03-19T13:12:59Z</dcterms:created>
  <dcterms:modified xsi:type="dcterms:W3CDTF">2026-03-25T13:12:15Z</dcterms:modified>
</cp:coreProperties>
</file>