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84" r:id="rId7"/>
    <p:sldId id="262" r:id="rId8"/>
    <p:sldId id="263" r:id="rId9"/>
    <p:sldId id="264" r:id="rId10"/>
    <p:sldId id="265" r:id="rId11"/>
    <p:sldId id="266" r:id="rId12"/>
    <p:sldId id="283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6" r:id="rId21"/>
    <p:sldId id="277" r:id="rId22"/>
    <p:sldId id="278" r:id="rId23"/>
    <p:sldId id="273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/>
    <p:restoredTop sz="90342"/>
  </p:normalViewPr>
  <p:slideViewPr>
    <p:cSldViewPr snapToGrid="0" snapToObjects="1">
      <p:cViewPr varScale="1">
        <p:scale>
          <a:sx n="120" d="100"/>
          <a:sy n="120" d="100"/>
        </p:scale>
        <p:origin x="1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63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BB138-B941-4833-2604-8FD19A978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D9326-455A-9150-0A8F-B11698D01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1D25C-0493-C646-E92E-C0A4902EE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5487-ECFA-63D9-33C3-8D44EBAB6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71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3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Численное интегрирование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ограниченной задаче трёх тел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инструмента для изучения движения тела в системе Земля-Луна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35280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Ключников Александр</a:t>
            </a:r>
            <a:endParaRPr lang="en-US" sz="1600" dirty="0"/>
          </a:p>
          <a:p>
            <a:pPr marL="0" indent="0" algn="r">
              <a:spcBef>
                <a:spcPts val="600"/>
              </a:spcBef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Бабинцев В.А., доцент каф. общей физики МФТИ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1280160" y="35280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Старт в науку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МФТИ, 2026</a:t>
            </a:r>
            <a:endParaRPr lang="en-US" sz="1200" dirty="0"/>
          </a:p>
        </p:txBody>
      </p:sp>
      <p:pic>
        <p:nvPicPr>
          <p:cNvPr id="10" name="Roc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457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 в тему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трёх тел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задача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небесной механики.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Аналитического решения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существует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47872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массивных тела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движутся по окружности.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Третье тело — малой массы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98464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Вращающаяся система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27064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и Луна неподвижны.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Появляются ускорение Кориолиса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центробежное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ограниченная задача трёх тел — базовая модель для изучения динамики в системе Земля–Луна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аналоги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 — базовая модель динамики Земля–Луна. Аналитического решения не существует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315200" cy="26090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КОЗТТ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Тяга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Якоби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GMAT (NASA)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 (Ansys/AGI)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PhET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«Орбита. Челлендж»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rocketlauncher.space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696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искал готовый симулятор — и не нашёл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FAFBB1-2C62-ED6A-E48D-7066D871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49" y="1061549"/>
            <a:ext cx="2651760" cy="26517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2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rocketlauncher.space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3D визуализация системы Земля–Луна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548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Три интегратора с контролем Якоби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Двигатель с настройкой окна тяги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Точки Лагранжа L1–L5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pic>
        <p:nvPicPr>
          <p:cNvPr id="13" name="Picture 12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5713126-5E0C-BC1E-D9D8-648DAEADC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61549"/>
            <a:ext cx="4814789" cy="2641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обучающего веб-симулятора траекторий в системе Земля–Луна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КОЗТТ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уравнения движения во вращающейся системе координат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расчёт траектории методом Эйлера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метод Верле, сравнить точность с Эйлером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 найти точки Лагранжа L1–L5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интерактивный 3D веб-симулятор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28001-E700-3BA0-F29A-0EFC03F2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15F353-4A35-691D-5271-FE3316334832}"/>
              </a:ext>
            </a:extLst>
          </p:cNvPr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модель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1A565C-E760-D034-0D0C-81444F7021B1}"/>
              </a:ext>
            </a:extLst>
          </p:cNvPr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1951FF-99B4-6591-AFB2-C48FBBAFBF87}"/>
              </a:ext>
            </a:extLst>
          </p:cNvPr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Уравнения движения во вращающейся системе координат: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7FA652-40D1-492D-58DA-FD102C732ABB}"/>
              </a:ext>
            </a:extLst>
          </p:cNvPr>
          <p:cNvSpPr/>
          <p:nvPr/>
        </p:nvSpPr>
        <p:spPr>
          <a:xfrm>
            <a:off x="640080" y="1371600"/>
            <a:ext cx="7863840" cy="1691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eq_x.png">
            <a:extLst>
              <a:ext uri="{FF2B5EF4-FFF2-40B4-BE49-F238E27FC236}">
                <a16:creationId xmlns:a16="http://schemas.microsoft.com/office/drawing/2014/main" id="{C3D9850F-EFDF-E393-5375-0653C6747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4979836" cy="438912"/>
          </a:xfrm>
          <a:prstGeom prst="rect">
            <a:avLst/>
          </a:prstGeom>
        </p:spPr>
      </p:pic>
      <p:pic>
        <p:nvPicPr>
          <p:cNvPr id="7" name="Image 1" descr="/sessions/fervent-ecstatic-fermi/mnt/spacerocketlauncher/latex/eq_y.png">
            <a:extLst>
              <a:ext uri="{FF2B5EF4-FFF2-40B4-BE49-F238E27FC236}">
                <a16:creationId xmlns:a16="http://schemas.microsoft.com/office/drawing/2014/main" id="{C2D0E31B-4BA0-15AD-42CB-1000245E3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4139666" cy="438912"/>
          </a:xfrm>
          <a:prstGeom prst="rect">
            <a:avLst/>
          </a:prstGeom>
        </p:spPr>
      </p:pic>
      <p:pic>
        <p:nvPicPr>
          <p:cNvPr id="8" name="Image 2" descr="/sessions/fervent-ecstatic-fermi/mnt/spacerocketlauncher/latex/eq_z.png">
            <a:extLst>
              <a:ext uri="{FF2B5EF4-FFF2-40B4-BE49-F238E27FC236}">
                <a16:creationId xmlns:a16="http://schemas.microsoft.com/office/drawing/2014/main" id="{BE7AC61E-8739-3B05-83DC-38FEFD771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2673073" cy="438912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83E65C9F-E03E-6118-4A56-A68E454D21BC}"/>
              </a:ext>
            </a:extLst>
          </p:cNvPr>
          <p:cNvSpPr/>
          <p:nvPr/>
        </p:nvSpPr>
        <p:spPr>
          <a:xfrm>
            <a:off x="640080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E93406C-AD5C-FDCA-0509-B0261851FDE9}"/>
              </a:ext>
            </a:extLst>
          </p:cNvPr>
          <p:cNvSpPr/>
          <p:nvPr/>
        </p:nvSpPr>
        <p:spPr>
          <a:xfrm>
            <a:off x="71628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AC3778B-F0D2-7FEE-5963-9B8870B8548A}"/>
              </a:ext>
            </a:extLst>
          </p:cNvPr>
          <p:cNvSpPr/>
          <p:nvPr/>
        </p:nvSpPr>
        <p:spPr>
          <a:xfrm>
            <a:off x="71628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грав. постоянная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7631138A-A93B-0105-7E2D-E710FA8C9AA0}"/>
              </a:ext>
            </a:extLst>
          </p:cNvPr>
          <p:cNvSpPr/>
          <p:nvPr/>
        </p:nvSpPr>
        <p:spPr>
          <a:xfrm>
            <a:off x="1962912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0E1BA65-8CB4-166D-E37D-963111C2C7EE}"/>
              </a:ext>
            </a:extLst>
          </p:cNvPr>
          <p:cNvSpPr/>
          <p:nvPr/>
        </p:nvSpPr>
        <p:spPr>
          <a:xfrm>
            <a:off x="2037937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Mₑ, Mₘ</a:t>
            </a:r>
            <a:endParaRPr lang="en-US" sz="15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235FD8B-4F88-B0B8-AE1E-2CD7F09E5482}"/>
              </a:ext>
            </a:extLst>
          </p:cNvPr>
          <p:cNvSpPr/>
          <p:nvPr/>
        </p:nvSpPr>
        <p:spPr>
          <a:xfrm>
            <a:off x="2037937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массы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</a:t>
            </a:r>
            <a:endParaRPr lang="en-US" sz="11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61669DE-996A-C63E-E04A-750F7EA4E005}"/>
              </a:ext>
            </a:extLst>
          </p:cNvPr>
          <p:cNvSpPr/>
          <p:nvPr/>
        </p:nvSpPr>
        <p:spPr>
          <a:xfrm>
            <a:off x="3285744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38D998C-5E79-56B2-FE04-1508FC588089}"/>
              </a:ext>
            </a:extLst>
          </p:cNvPr>
          <p:cNvSpPr/>
          <p:nvPr/>
        </p:nvSpPr>
        <p:spPr>
          <a:xfrm>
            <a:off x="3359594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dₑ, dₘ</a:t>
            </a:r>
            <a:endParaRPr lang="en-US" sz="15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5AEFAD7-B637-21ED-BBE9-65AEE977454C}"/>
              </a:ext>
            </a:extLst>
          </p:cNvPr>
          <p:cNvSpPr/>
          <p:nvPr/>
        </p:nvSpPr>
        <p:spPr>
          <a:xfrm>
            <a:off x="3359594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барицентра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58448AA-39E4-6351-2A9E-7B10FF225ACC}"/>
              </a:ext>
            </a:extLst>
          </p:cNvPr>
          <p:cNvSpPr/>
          <p:nvPr/>
        </p:nvSpPr>
        <p:spPr>
          <a:xfrm>
            <a:off x="4608576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D240196-DF0D-18D2-59EA-73AE83324CC8}"/>
              </a:ext>
            </a:extLst>
          </p:cNvPr>
          <p:cNvSpPr/>
          <p:nvPr/>
        </p:nvSpPr>
        <p:spPr>
          <a:xfrm>
            <a:off x="4681251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rₑ, rₘ</a:t>
            </a:r>
            <a:endParaRPr lang="en-US" sz="15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43AEFE2-6917-CCED-049C-25BEA0DA837F}"/>
              </a:ext>
            </a:extLst>
          </p:cNvPr>
          <p:cNvSpPr/>
          <p:nvPr/>
        </p:nvSpPr>
        <p:spPr>
          <a:xfrm>
            <a:off x="4681251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центров масс</a:t>
            </a:r>
            <a:endParaRPr lang="en-US" sz="11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157C1D48-E043-3285-8524-1984F0F9CD95}"/>
              </a:ext>
            </a:extLst>
          </p:cNvPr>
          <p:cNvSpPr/>
          <p:nvPr/>
        </p:nvSpPr>
        <p:spPr>
          <a:xfrm>
            <a:off x="5931408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9E34680-82A0-449C-B83F-DA2952536F4B}"/>
              </a:ext>
            </a:extLst>
          </p:cNvPr>
          <p:cNvSpPr/>
          <p:nvPr/>
        </p:nvSpPr>
        <p:spPr>
          <a:xfrm>
            <a:off x="6002908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</a:t>
            </a:r>
            <a:endParaRPr lang="en-US" sz="15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B209482-E571-868A-84C4-8902A81C751C}"/>
              </a:ext>
            </a:extLst>
          </p:cNvPr>
          <p:cNvSpPr/>
          <p:nvPr/>
        </p:nvSpPr>
        <p:spPr>
          <a:xfrm>
            <a:off x="6002908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угл. скорость</a:t>
            </a:r>
            <a:endParaRPr lang="en-US" sz="11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248A66D2-2D0E-21C3-C790-C035E2C676A1}"/>
              </a:ext>
            </a:extLst>
          </p:cNvPr>
          <p:cNvSpPr/>
          <p:nvPr/>
        </p:nvSpPr>
        <p:spPr>
          <a:xfrm>
            <a:off x="640080" y="4023360"/>
            <a:ext cx="4645152" cy="4572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557098D-EBDD-7C8C-C369-EDF368C888F1}"/>
              </a:ext>
            </a:extLst>
          </p:cNvPr>
          <p:cNvSpPr/>
          <p:nvPr/>
        </p:nvSpPr>
        <p:spPr>
          <a:xfrm>
            <a:off x="777240" y="40507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 </a:t>
            </a: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−2ωẏ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</a:t>
            </a: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силы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Кориолиса. Зависит от скорости</a:t>
            </a:r>
            <a:endParaRPr lang="en-US" sz="13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9464F16-538F-C8BB-BEF2-EF4B2E44E8BD}"/>
              </a:ext>
            </a:extLst>
          </p:cNvPr>
          <p:cNvSpPr/>
          <p:nvPr/>
        </p:nvSpPr>
        <p:spPr>
          <a:xfrm>
            <a:off x="5358384" y="40233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модель </a:t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тяги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const</a:t>
            </a:r>
            <a:r>
              <a:rPr lang="ru-RU" sz="1200" i="1" dirty="0">
                <a:solidFill>
                  <a:srgbClr val="666666"/>
                </a:solidFill>
                <a:latin typeface="Calibri" pitchFamily="34" charset="0"/>
                <a:ea typeface="Cambria Math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окне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[tₒₙ, t</a:t>
            </a:r>
            <a:r>
              <a:rPr lang="en-US" sz="1200" i="1" baseline="-25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off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]</a:t>
            </a:r>
            <a:endParaRPr lang="en-US" sz="12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D47A120-D078-AC80-BB4F-DB20B0920C99}"/>
              </a:ext>
            </a:extLst>
          </p:cNvPr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1D206C7B-0635-AC9D-D228-C208D0D2E9B8}"/>
              </a:ext>
            </a:extLst>
          </p:cNvPr>
          <p:cNvSpPr/>
          <p:nvPr/>
        </p:nvSpPr>
        <p:spPr>
          <a:xfrm>
            <a:off x="7254240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69E8646B-ABA6-D48D-9669-D19F090764A7}"/>
              </a:ext>
            </a:extLst>
          </p:cNvPr>
          <p:cNvSpPr/>
          <p:nvPr/>
        </p:nvSpPr>
        <p:spPr>
          <a:xfrm>
            <a:off x="733044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 - 𝛌t</a:t>
            </a: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F94A453-F180-48F8-31BF-A638502D8E66}"/>
              </a:ext>
            </a:extLst>
          </p:cNvPr>
          <p:cNvSpPr/>
          <p:nvPr/>
        </p:nvSpPr>
        <p:spPr>
          <a:xfrm>
            <a:off x="733044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100" i="1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масса топлива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515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применимости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орбита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 Луны считается круговой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(реальный эксцентриситет = 0.055)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масса 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аппарата пренебрежимо мала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сравнению с Землёй и Луной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Солнца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учитывается притяжение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Солнца и других тел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корректна для качественного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изучения динамики и учебных целей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реальных миссий используются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эфемеридные модели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интегратора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Эйлера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Простой, порядок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endParaRPr lang="en-US" sz="1200" i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сохраняет энергию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endParaRPr lang="en-US" sz="2000" i="1" dirty="0"/>
          </a:p>
        </p:txBody>
      </p:sp>
      <p:sp>
        <p:nvSpPr>
          <p:cNvPr id="9" name="Shape 7"/>
          <p:cNvSpPr/>
          <p:nvPr/>
        </p:nvSpPr>
        <p:spPr>
          <a:xfrm>
            <a:off x="3319272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стандартный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7872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Симплектический,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теор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Кориолис</a:t>
            </a:r>
            <a:r>
              <a:rPr lang="ru-RU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все портит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до</a:t>
            </a:r>
            <a:r>
              <a:rPr lang="ru-RU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496312" cy="24688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итеративной коррекцией скорости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064" y="1664208"/>
            <a:ext cx="2039112" cy="1371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итерации за шаг уточняют </a:t>
            </a: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Восстанавливает порядок</a:t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endParaRPr lang="en-US" sz="1200" i="1" dirty="0"/>
          </a:p>
        </p:txBody>
      </p:sp>
      <p:sp>
        <p:nvSpPr>
          <p:cNvPr id="18" name="Text 16"/>
          <p:cNvSpPr/>
          <p:nvPr/>
        </p:nvSpPr>
        <p:spPr>
          <a:xfrm>
            <a:off x="6227064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endParaRPr lang="en-US" sz="2000" i="1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Кориолисово ускорение </a:t>
            </a: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 × v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зависит от скорости → стандартный Верле теряет порядок → итерации восстанавливают </a:t>
            </a: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3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(h²)</a:t>
            </a:r>
            <a:endParaRPr lang="en-US" sz="1300" i="1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Интеграл Якоби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сохраняющаяся величина в КОЗТТ</a:t>
            </a:r>
            <a:endParaRPr lang="en-US" sz="1500" dirty="0"/>
          </a:p>
        </p:txBody>
      </p:sp>
      <p:pic>
        <p:nvPicPr>
          <p:cNvPr id="5" name="Image 0" descr="/sessions/fervent-ecstatic-fermi/mnt/spacerocketlauncher/latex/jacobi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554480"/>
            <a:ext cx="4059936" cy="777240"/>
          </a:xfrm>
          <a:prstGeom prst="rect">
            <a:avLst/>
          </a:prstGeom>
        </p:spPr>
      </p:pic>
      <p:pic>
        <p:nvPicPr>
          <p:cNvPr id="6" name="Image 1" descr="/sessions/fervent-ecstatic-fermi/mnt/spacerocketlauncher/latex/jacobi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377440"/>
            <a:ext cx="3255264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0080" y="2880360"/>
            <a:ext cx="1874520" cy="12801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33472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633472" y="2880360"/>
            <a:ext cx="1874520" cy="12801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7063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70632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26864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6864" y="2880360"/>
            <a:ext cx="1874520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640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64024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0256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880360"/>
            <a:ext cx="1874520" cy="1280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5741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757416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сходимость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experiments/02_integrator_comparison/log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3035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Эйлер</a:t>
            </a:r>
            <a:endParaRPr lang="en-US" sz="1300" dirty="0"/>
          </a:p>
        </p:txBody>
      </p:sp>
      <p:pic>
        <p:nvPicPr>
          <p:cNvPr id="7" name="Image 1" descr="/sessions/fervent-ecstatic-fermi/mnt/spacerocketlauncher/latex/slope_e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64208"/>
            <a:ext cx="1472184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807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стандарт.</a:t>
            </a:r>
            <a:endParaRPr lang="en-US" sz="1300" dirty="0"/>
          </a:p>
        </p:txBody>
      </p:sp>
      <p:pic>
        <p:nvPicPr>
          <p:cNvPr id="10" name="Image 2" descr="/sessions/fervent-ecstatic-fermi/mnt/spacerocketlauncher/latex/slope_verlet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04288"/>
            <a:ext cx="1472184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0807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итерир.</a:t>
            </a:r>
            <a:endParaRPr lang="en-US" sz="1300" dirty="0"/>
          </a:p>
        </p:txBody>
      </p:sp>
      <p:pic>
        <p:nvPicPr>
          <p:cNvPr id="13" name="Image 3" descr="/sessions/fervent-ecstatic-fermi/mnt/spacerocketlauncher/latex/slope_verlet_i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944368"/>
            <a:ext cx="1472184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943600" y="3246120"/>
            <a:ext cx="2743200" cy="12344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60807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30 с  |  R² = 0.999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0807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Эйлер:    8 400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ст.: 1 900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ит.:   0.13 м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080760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 точнее по позиции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шаг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 </a:t>
            </a:r>
            <a:r>
              <a:rPr lang="en-US" sz="15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1/r</a:t>
            </a: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растёт → нужен мелкий шаг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adaptive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91640"/>
            <a:ext cx="2532888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 от тел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=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малы, шаг максимален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02152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Переходная зона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уменьшается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пропорционально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8464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81344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81344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≈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велики, шаг минимален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54680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3872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точек Лагранжа: Desmos</a:t>
            </a:r>
            <a:endParaRPr lang="en-US" sz="2800" dirty="0"/>
          </a:p>
        </p:txBody>
      </p:sp>
      <p:sp>
        <p:nvSpPr>
          <p:cNvPr id="3" name="Dark bar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640080" y="100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Графический анализ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суммарного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ускорения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Desmos</a:t>
            </a:r>
            <a:endParaRPr lang="en-US" sz="1400" dirty="0"/>
          </a:p>
        </p:txBody>
      </p:sp>
      <p:pic>
        <p:nvPicPr>
          <p:cNvPr id="5" name="Desmos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200400" cy="32004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sp>
        <p:nvSpPr>
          <p:cNvPr id="6" name="Step 1"/>
          <p:cNvSpPr/>
          <p:nvPr/>
        </p:nvSpPr>
        <p:spPr>
          <a:xfrm>
            <a:off x="4114800" y="1463040"/>
            <a:ext cx="45720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График ускорений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</a:rPr>
              <a:t>Построены графики гравитационного и центробежного ускорений. В точке пересечения суммарное ускорение обращается в ноль</a:t>
            </a:r>
          </a:p>
        </p:txBody>
      </p:sp>
      <p:sp>
        <p:nvSpPr>
          <p:cNvPr id="7" name="Step 2"/>
          <p:cNvSpPr/>
          <p:nvPr/>
        </p:nvSpPr>
        <p:spPr>
          <a:xfrm>
            <a:off x="4114800" y="2286000"/>
            <a:ext cx="45720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Последовательное приближение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</a:rPr>
              <a:t>Многократное масштабирование области пересечения для определения координат с максимальной точностью</a:t>
            </a:r>
          </a:p>
        </p:txBody>
      </p:sp>
      <p:sp>
        <p:nvSpPr>
          <p:cNvPr id="8" name="Step 3"/>
          <p:cNvSpPr/>
          <p:nvPr/>
        </p:nvSpPr>
        <p:spPr>
          <a:xfrm>
            <a:off x="4114800" y="3108960"/>
            <a:ext cx="4572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От графика к алгоритму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Графическое исследование привело к формализации метода бисекции для автоматического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>поиска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 </a:t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</a:rPr>
              <a:t>точек Лагранжа</a:t>
            </a:r>
            <a:endParaRPr lang="en-US" sz="1200" dirty="0">
              <a:solidFill>
                <a:srgbClr val="CCCCCC"/>
              </a:solidFill>
              <a:latin typeface="Calibri" pitchFamily="34" charset="0"/>
            </a:endParaRPr>
          </a:p>
        </p:txBody>
      </p:sp>
      <p:sp>
        <p:nvSpPr>
          <p:cNvPr id="10" name="Page Number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точек равновесия системы Земля–Луна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212140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Ост. ускор., м/с²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−386 651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6758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в Desmos → смена знака → бисекция → точность &lt; 10⁻¹⁸ м/с²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416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Аналитические приближения (сфера Хилла) дают отн. ошибку 0.4–0.8% — численное решение точнее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вклад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уравнений движения КОЗТТ во вращающейся системе координат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еализация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интеграла Якоби как инструмента проверки точности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методы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интегратора; обнаружение деградации Верле и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варианта</a:t>
            </a: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итеративной коррекцией скорости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7 вычислительных экспериментов для количественной верификации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Нахождение точек Лагранжа L1–L5: бисекция + метод Ньютона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веб-симулятор + скрипты поиска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начальных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условий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 развития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орбиты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Поддержание аппарата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</a:t>
            </a:r>
            <a:r>
              <a:rPr lang="ru-RU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заданий на базе симулятора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6131CC-5F1E-7F6B-3C18-AADB9ABD4BB8}"/>
              </a:ext>
            </a:extLst>
          </p:cNvPr>
          <p:cNvGrpSpPr/>
          <p:nvPr/>
        </p:nvGrpSpPr>
        <p:grpSpPr>
          <a:xfrm>
            <a:off x="640080" y="1234440"/>
            <a:ext cx="2556000" cy="1325880"/>
            <a:chOff x="640080" y="1234440"/>
            <a:chExt cx="2556000" cy="1325880"/>
          </a:xfrm>
        </p:grpSpPr>
        <p:sp>
          <p:nvSpPr>
            <p:cNvPr id="4" name="Shape 2"/>
            <p:cNvSpPr/>
            <p:nvPr/>
          </p:nvSpPr>
          <p:spPr>
            <a:xfrm>
              <a:off x="640080" y="1234440"/>
              <a:ext cx="2556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818357" y="1417320"/>
              <a:ext cx="2258179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Эллиптическая</a:t>
              </a: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орбита</a:t>
              </a:r>
              <a:endParaRPr lang="en-US" sz="1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18357" y="187452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Учёт </a:t>
              </a:r>
              <a:r>
                <a:rPr lang="en-US" sz="1400" dirty="0" err="1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эксцентриситета</a:t>
              </a: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Луны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0EECB8-7365-1C3A-8A80-3E212BE5EFCE}"/>
              </a:ext>
            </a:extLst>
          </p:cNvPr>
          <p:cNvGrpSpPr/>
          <p:nvPr/>
        </p:nvGrpSpPr>
        <p:grpSpPr>
          <a:xfrm>
            <a:off x="3312000" y="1234440"/>
            <a:ext cx="2556000" cy="1325880"/>
            <a:chOff x="3314238" y="1234440"/>
            <a:chExt cx="2556000" cy="1325880"/>
          </a:xfrm>
        </p:grpSpPr>
        <p:sp>
          <p:nvSpPr>
            <p:cNvPr id="7" name="Shape 5"/>
            <p:cNvSpPr/>
            <p:nvPr/>
          </p:nvSpPr>
          <p:spPr>
            <a:xfrm>
              <a:off x="3314238" y="1234440"/>
              <a:ext cx="2556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492516" y="1417320"/>
              <a:ext cx="2079901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Гравитация</a:t>
              </a:r>
              <a:r>
                <a:rPr lang="en-US" sz="18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Солнца</a:t>
              </a:r>
              <a:endParaRPr lang="en-US" sz="1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92516" y="187452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Расширение до задачи четырёх тел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7D2878-2B35-61D7-47C6-98F014CCA1F7}"/>
              </a:ext>
            </a:extLst>
          </p:cNvPr>
          <p:cNvGrpSpPr/>
          <p:nvPr/>
        </p:nvGrpSpPr>
        <p:grpSpPr>
          <a:xfrm>
            <a:off x="5983920" y="1234440"/>
            <a:ext cx="2520000" cy="1325880"/>
            <a:chOff x="6067464" y="1234440"/>
            <a:chExt cx="2520000" cy="1325880"/>
          </a:xfrm>
        </p:grpSpPr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7D4D1A62-5118-A7B5-BE82-F81C472C6B3B}"/>
                </a:ext>
              </a:extLst>
            </p:cNvPr>
            <p:cNvSpPr/>
            <p:nvPr/>
          </p:nvSpPr>
          <p:spPr>
            <a:xfrm>
              <a:off x="6067464" y="1234440"/>
              <a:ext cx="2520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15287521-8226-095D-1B1A-1071394345C0}"/>
                </a:ext>
              </a:extLst>
            </p:cNvPr>
            <p:cNvSpPr/>
            <p:nvPr/>
          </p:nvSpPr>
          <p:spPr>
            <a:xfrm>
              <a:off x="6245742" y="1412789"/>
              <a:ext cx="2079901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Давление света</a:t>
              </a:r>
              <a:endParaRPr lang="en-US" sz="1800" dirty="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F04B3413-281C-9EF4-F64F-92C8F8EE9156}"/>
                </a:ext>
              </a:extLst>
            </p:cNvPr>
            <p:cNvSpPr/>
            <p:nvPr/>
          </p:nvSpPr>
          <p:spPr>
            <a:xfrm>
              <a:off x="6250031" y="189738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ru-RU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Учет давления света от Солнца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КОЗТТ, выведены уравнения движения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013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3 интегратора; Верле</a:t>
            </a: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итеративной коррекцией скорости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точнее Эйлера в 58 000×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780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4597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 найдены численно (ост. уск. &lt; 10⁻¹⁸)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1363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11810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верифицирована серией из 7 численных экспериментов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76472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764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обучающий 3D веб-симулятор, опубликован онлайн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qr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8872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 ·  Старт в науку  ·  2026  ·  Ключников Александр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 для ответов на вопросы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у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3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м/с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Ляпунова 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сут⁻¹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суток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/ время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 сут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Гало-орбита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1_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Амплитуда Az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ч (12.2 дня)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Якоби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10⁻¹¹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2_free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3 399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Земле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8 081 км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полёта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ч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м/с → Δr Луна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 км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Перелёт с тягой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4_th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 / время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 / 3 ч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м/с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2 494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кг (3.6%)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инструмент для лабораторных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готов к использованию в учебном процессе — без установки, в браузере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Параметрическое исследование: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период, замыкание, дрейф Якоби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начальным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условиям, облёт Луны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и Ляпунов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траекторий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тяги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окна включения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двигателя для манёвра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доступ  ·  Не требует установки  ·  7 готовых экспериментов  ·  Открытый код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3D-симулятор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Three.js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строк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(RK45 для валидации)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7 скриптов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Beget.com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· 1 GB RAM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SSD · 210 ₽/мес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(исследование L1–L5)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~2 500 строк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264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написан с нуля  ·  Three.js + Python + NumPy  ·  VPS за 210 ₽/мес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литературы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61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Szebehely V. Theory of Orbits: The Restricted Problem of Three Bodies. Academic Press, 1967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D.L. Analytic construction of periodic orbits about the collinear points. Celestial Mechanics, 22(3), 1980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671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Hairer E., Lubich C., Wanner G. Geometric Numerical Integration. Springer, 2006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700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Koon W.S. et al. Dynamical Systems, the Three-Body Problem and Space Mission Design. Marsden Books, 2011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729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R.W. The Control and Use of Libration-Point Satellites. NASA TR R-346, 1968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758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NASA. Apollo by the Numbers. NASA History Division — S-IVB TLI, free-return trajectories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проекта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2546604"/>
            <a:ext cx="7863840" cy="27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238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6246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15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15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7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КОЗТТ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952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952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935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690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690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672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Three.js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427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27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10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Лагранж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03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903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85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Адапт. шаг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40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640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23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378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378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60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эксп.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115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115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098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37673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месяцев: от теории до публикации на сайте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1453</Words>
  <Application>Microsoft Macintosh PowerPoint</Application>
  <PresentationFormat>On-screen Show (16:9)</PresentationFormat>
  <Paragraphs>407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Численное моделирование траекторий в КОЗТТ системы Земля-Луна</dc:title>
  <dc:subject>PptxGenJS Presentation</dc:subject>
  <dc:creator>Ключников Александр</dc:creator>
  <cp:lastModifiedBy>Vyacheslav Klyuchnikov</cp:lastModifiedBy>
  <cp:revision>8</cp:revision>
  <dcterms:created xsi:type="dcterms:W3CDTF">2026-03-19T13:12:59Z</dcterms:created>
  <dcterms:modified xsi:type="dcterms:W3CDTF">2026-03-25T06:05:59Z</dcterms:modified>
</cp:coreProperties>
</file>